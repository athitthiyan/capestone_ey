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(USD B)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Anomaly-detection audit SW 2026</c:v>
                  </c:pt>
                  <c:pt idx="1">
                    <c:v>Anomaly-detection audit SW 2034</c:v>
                  </c:pt>
                  <c:pt idx="2">
                    <c:v>Financial audit SW 2025</c:v>
                  </c:pt>
                  <c:pt idx="3">
                    <c:v>Financial audit SW 2033</c:v>
                  </c:pt>
                  <c:pt idx="4">
                    <c:v>AI-in-audit 2033 (proj.)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1.24</c:v>
                </c:pt>
                <c:pt idx="1">
                  <c:v>2.41</c:v>
                </c:pt>
                <c:pt idx="2">
                  <c:v>2.8</c:v>
                </c:pt>
                <c:pt idx="3">
                  <c:v>6.1</c:v>
                </c:pt>
                <c:pt idx="4">
                  <c:v>11.7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3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HTTP request duration (ms)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avg</c:v>
                  </c:pt>
                  <c:pt idx="1">
                    <c:v>median</c:v>
                  </c:pt>
                  <c:pt idx="2">
                    <c:v>p90</c:v>
                  </c:pt>
                  <c:pt idx="3">
                    <c:v>p95</c:v>
                  </c:pt>
                  <c:pt idx="4">
                    <c:v>p99</c:v>
                  </c:pt>
                  <c:pt idx="5">
                    <c:v>max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5.6</c:v>
                </c:pt>
                <c:pt idx="1">
                  <c:v>4.3</c:v>
                </c:pt>
                <c:pt idx="2">
                  <c:v>11</c:v>
                </c:pt>
                <c:pt idx="3">
                  <c:v>14.3</c:v>
                </c:pt>
                <c:pt idx="4">
                  <c:v>23</c:v>
                </c:pt>
                <c:pt idx="5">
                  <c:v>130.3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3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Lines of code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1479B"/>
              </a:solidFill>
              <a:effectLst/>
            </c:spPr>
          </c:dPt>
          <c:dPt>
            <c:idx val="2"/>
            <c:bubble3D val="0"/>
            <c:spPr>
              <a:solidFill>
                <a:srgbClr val="8FA8D8"/>
              </a:solidFill>
              <a:effectLst/>
            </c:spPr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Backend (Python)</c:v>
                </c:pt>
                <c:pt idx="1">
                  <c:v>Frontend (TS/TSX)</c:v>
                </c:pt>
                <c:pt idx="2">
                  <c:v>Documentation (MD)</c:v>
                </c:pt>
                <c:pt idx="3">
                  <c:v>Infra &amp; CI (YAML/Docker)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13845</c:v>
                </c:pt>
                <c:pt idx="1">
                  <c:v>12100</c:v>
                </c:pt>
                <c:pt idx="2">
                  <c:v>2318</c:v>
                </c:pt>
                <c:pt idx="3">
                  <c:v>970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8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Set the stage and the stakes in one line.
TIME: 0:30
TALKING POINTS:
• Welcome the panel. One sentence: 'GL Guardian is an enterprise audit-investigation platform where six AI agents put every flagged transaction on trial — and a human signs the verdict.'
• Name both authors and the capstone context.
• Do not explain features yet; promise a story from business problem to engineering evidence.
TRANSITION: Before the story — the whole presentation in one slide, for the executives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Give executives the full argument up front so details can land on prepared minds.
TIME: 1:00
TALKING POINTS:
• Read the four quadrants as one paragraph: problem, answer, trust, proof.
• Flag the ask now — pilot endorsement — so the panel listens with a decision in mind.
• Numbers here are all evidence-backed; the deck will show sources for each.
TRANSITION: Here is the journey we'll take to justify that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Contract with the audience on structure and time.
TIME: 0:30
TALKING POINTS:
• Point out the demo sits inside Act V, ~10 minutes.
• Tell the panel a 75-question Q&amp;A bank exists in backup slides — questions welcome at the end.
TRANSITION: Act I. Let me take you to a Tuesday night in an audit war-room.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Create urgency: the industry's core process has a structural blind spot.
TIME: 1:30
TALKING POINTS:
• Story beat: an audit manager, 11pm, quarter-end. 40,000 GL lines, capacity to inspect a few hundred.
• Sampling exists because humans don't scale — not because it's good assurance.
• ACFE's 'organizations lose ~5% of revenue to fraud' is the canonical industry estimate — cite as external benchmark.
• Land the phrase: technology limitation, not audit principle.
TRANSITION: What does that blind spot cost in practice? Look at the process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Make the pain concrete and personal for anyone who has run an audit.
TIME: 1:30
TALKING POINTS:
• Walk the five manual steps; emphasize each is human-bottlenecked.
• Pain points: hours per case, single-analyst bias, missing evidence chain, coverage theater.
• Business impact: late findings, regulator friction, fraud that persists across quarters.
TRANSITION: Surely software solved this? Partly — and that partly is the gap we live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Position the market gap: post-flag investigation is unowned territory.
TIME: 1:00
TALKING POINTS:
• Credit incumbents honestly — MindBridge/IDEA are good at scoring anomalies.
• The failure: a flag creates work, it doesn't finish it. The investigation after the flag is still manual.
• Read rows 3-6: debate, verification, confidence routing, hash-chained record — that is the whitespace.
TRANSITION: So we asked one question: what if every flag triggered a full trial, automatically?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Deliver the core product metaphor: the courtroom.
TIME: 0:45
TALKING POINTS:
• This metaphor is the product: prosecution, defense, judge, verification, human appeal.
• The emotional shift: from sampling anxiety to full-coverage confidence.
• Note this is not aspiration — every element on this slide is running code you'll see in the demo.
TRANSITION: Act II — is anyone paying for this? The market says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Establish market size and momentum with cited, external numbers.
TIME: 1:15
TALKING POINTS:
• Sources: market.us AI-in-Audit report ($11.7B by 2033, 27.9% CAGR); IntelMarket anomaly-detection accounting outlook ($1.24B 2026 → $2.41B 2034); HTF financial-audit software ($2.8B 2025 → $6.1B 2033); Wolters Kluwer via Journal of Accountancy (39% use AI, 41% plan by 2026).
• Be honest: these are analyst projections, not our data; they agree on direction — double-digit growth.
• Our wedge is not the whole market: it's the unowned post-flag investigation workflow.
TRANSITION: Who else is in the arena — and where exactly do we differ?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Show we know the landscape and where the durable difference is.
TIME: 1:15
TALKING POINTS:
• Respect the incumbents; our rows 3, 4 and 6 (debate, verification, hash chain) are the differentiators no one else claims.
• AppZen is closest in spirit (autonomous expense audit) but domain-narrow.
• If asked 'why won't they copy you': the moat is the verified workflow + decision data model, not a prompt (Q&amp;A bank has the full answer).
TRANSITION: Summarized as a SWOT — including what we're honestly weak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Pre-empt panel skepticism by naming our weaknesses before they do.
TIME: 0:45
TALKING POINTS:
• Spend most time on Weaknesses — credibility is won here: no accuracy benchmark yet, mock UI areas, team size.
• Then pivot: every weakness has a roadmap line later in the deck.
TRANSITION: Why we still win: four properties competitors don't have, on one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Cement the four-word pitch: adversarial, verified, human-governed, tamper-evident.
TIME: 1:00
TALKING POINTS:
• Each card maps to a code artifact: debate nodes, verification_claims + RAGAS, confidence gate routing, audit_log hash chain test.
• These four compose — copying one feature doesn't reproduce the trust story.
TRANSITION: Act III: what we committed to build — the PRD in two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Prove product discipline: requirements existed before code and map to shipped features.
TIME: 1:00
TALKING POINTS:
• Everything in the 'functional' card is running code, not intention — the demo shows most of it.
• NFRs are verified by artifacts: security by config + startup checks, performance by k6, observability at /metrics.
TRANSITION: What the user actually experiences — the case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Make the pipeline tangible from the user's seat before the technical version.
TIME: 1:15
TALKING POINTS:
• Walk the 7 stages; stress the retry loop: failed verification re-collects evidence up to a bound, then escalates — it never silently passes.
• The gate bands are runtime settings a Partner can change — governance lives in the product, not in code reviews.
• Point at the screenshot placeholder: replace with a real case-workspace capture before presenting.
TRANSITION: The surfaces users touch every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Breadth check: this is a platform, not a single screen.
TIME: 0:45
TALKING POINTS:
• Every card is a route in the Next.js app backed by real API modules.
• Mention the API-first design: everything the UI does is available to integrate.
TRANSITION: How we will know it's working — metrics and acceptance.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Show measurable definitions of success and honest status on each.
TIME: 0:45
TALKING POINTS:
• Three [TO COLLECT] flags are deliberate — we state what evidence is missing rather than invent numbers.
• Acceptance criteria per feature live in the Kiro spec (scene-acceptance-criteria.md pattern) and test suite.
TRANSITION: What could go wrong — the risk register.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Demonstrate mature risk thinking — each risk has a concrete, mostly-shipped mitigation.
TIME: 0:45
TALKING POINTS:
• Lead with hallucination risk — it's the one everyone is thinking about; the mitigation is architectural, not aspirational.
• The key-exposure row is a real event we caught and fixed — honesty builds trust here.
TRANSITION: Act IV — how two people built this in weeks: the Kiro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Tell the meta-story: the product was built the way it works — AI drafts, humans verify.
TIME: 1:30
TALKING POINTS:
• Kiro's spec-driven flow: idea → requirements → design → tasks → code → test → docs. The storytelling spec in .kiro/ is the auditable example.
• Two flagship human catches: the audit hash chain that computed hashes and discarded them, and the LangGraph graph that was compiled but never invoked. AI wrote plausible code; humans demanded proof via tests.
• Honesty note: Kiro session logs for backend features aren't archived in the repo — flagged as evidence to collect.
TRANSITION: The collaboration model in one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One-picture answer to 'did AI write this?' — yes, under governance.
TIME: 1:00
TALKING POINTS:
• Read left to right: propose → gate → approve.
• Callback: this mirrors the product's own confidence gate. We trust AI the way we ask auditors to trust ours.
TRANSITION: Now the system itself — architecture from 30,000 feet.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Give the panel the complete system in one mental model.
TIME: 2:00
TALKING POINTS:
• Left to right: UI → API → agent crew → LLM providers; data plane below: Postgres+pgvector, Redis, optional EventStoreDB.
• Emphasize graceful degradation: every heavyweight component is a feature flag with a fallback — EventStore→Postgres hash chain, Celery→in-process, Redis events→same-process bus.
• Trade-off headline: we chose boring, provable infrastructure (Postgres-first) over exotic stacks; complexity is opt-in.
• Scalability: stateless API replicas; workers scale on queue depth; DB is the deliberate single source of truth.
TRANSITION: Zoom into the six minds at the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Show every choice was a decision with a named cost — engineering maturity.
TIME: 1:15
TALKING POINTS:
• Pick two rows to narrate: LangGraph (determinism over flexibility) and Postgres-first (one boring engine over three exotic ones).
• Every trade-off row has a tracked known-issue or documented lesson behind it.
TRANSITION: Now the stars of the system: the agent crew.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Introduce each agent as a character with a job description.
TIME: 1:30
TALKING POINTS:
• Memory &amp; state: all six share one checkpointed InvestigationState — evidence, transcript, verdict, verification — persisted per phase.
• Model routing per role: critical roles (Adjudicator, Verifier, final report) always get reasoning-class models; summaries get lightweight ones.
• Dev honesty: USE_REAL_AGENTS=false swaps in deterministic stubs so plumbing is testable without token spend.
TRANSITION: How a case actually flows through them — the state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Prove the AI is governed by an explicit, bounded control flow — not vibes.
TIME: 1:30
TALKING POINTS:
• Everything red is a bound: debate ≤2 rounds (termination proven by test), verification ≤1 retry then escalation.
• Every phase checkpoints state to investigation_states — any case is replayable step by step.
• All three outcome lanes end in the same place: a report and an immutable audit record.
• Code refs: executor.py _route_after_verification / _route_after_confidence_gate.
TRANSITION: The debate itself, message by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Make the debate concrete with an actual message flow.
TIME: 1:00
TALKING POINTS:
• Narrate one real-ish case: duplicate vendor payment — Challenger cites round-amount + weekend posting; Defender cites contract schedule; Adjudicator lands medium risk, 0.82 → human review.
• Point out persistence: this exact diagram is reconstructable from the database for any past case.
TRANSITION: All of this runs on a deliberately paranoid LLM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Answer cost and reliability fears in one slide.
TIME: 1:15
TALKING POINTS:
• Five providers: Anthropic, OpenAI, Gemini, Groq, DeepSeek — swap by env var, no code change.
• The routing rule is a governance statement: critical steps never get the cheap model.
• Lesson 13 shipped here: fallback is resilience, not a substitute for retry.
TRANSITION: Guardrails continue beyond the LLM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Reframe governance as a list of negatives — what the AI cannot do — which lands harder with risk-minded executives.
TIME: 1:00
TALKING POINTS:
• Each 'cannot' is enforced in code or config, not policy documents; name the artifact if asked.
• Prompt-engineering guardrails: structured prompts separate instructions from untrusted transaction data; verifier checks outputs against evidence.
TRANSITION: The deepest guardrail: an audit trail you can't quietly 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Land the compliance anchor with the redemption story.
TIME: 1:00
TALKING POINTS:
• Walk the chain visual: each hash includes the previous — like a lightweight private blockchain, no crypto theater.
• Tell the fake-chain story openly; it demonstrates the human-verification culture better than any claim.
• Regulator pitch: give us any case ID and we replay every event, message and model call behind the decision.
TRANSITION: Choices we debated and rejected — then we prove it all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Show decision quality: alternatives were seriously considered, rejection reasons are specific.
TIME: 1:00
TALKING POINTS:
• Best sound bite: 'a state machine can prove termination; a group chat can't.'
• These aren't hypothetical — the dead-graph and esdb-client lessons show us actually walking back bad picks.
TRANSITION: Enough claims. Act V — see it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Set expectations for the demo so the audience knows what 'good' looks like.
TIME: 0:30 (then ~10:00 demo)
TALKING POINTS:
• Announce the storyline: one flagged payment goes on trial, end to end.
• Tell them the backup plan exists (recorded run) so any hiccup is a non-event.
• DEMO SCRIPT — full step-by-step with clicks, expected outputs and talking points is on the next slide's notes and the backup checklist slide.
TRANSITION: (Run demo. On return:) That was live — here's the script we followed, for the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Document the demo path so it is reproducible by anyone.
TIME: 0:15 (skim if demo just ran)
TALKING POINTS:
• Pre-demo checklist is on backup slide 'Demo checklist'.
• Potential failures &amp; responses: LLM latency spike → keep talking over the phase spinner, it's genuinely live; provider outage → USE_REAL_AGENTS=false stub mode still shows full plumbing; total env failure → recorded fallback video of the same script.
• Timing guardrail: if debate reading runs long, skip /verification detail and go straight to review + audit chain.
TRANSITION: The demo shows it works once. Load tests show it works under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Signal operational maturity: we planned for failure like we build for it.
TIME: 0:15 (usually skip; reference if asked)
TALKING POINTS:
• This slide can be skipped live; it exists so reviewers see demo-risk planning.
• The layered fallback mirrors the product's own graceful-degradation philosophy.
TRANSITION: Now the numbers: what happens at 25 concurrent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Prove performance with real, decoded k6 data — and scope it honestly.
TIME: 1:30
TALKING POINTS:
• Numbers decoded from the actual k6 report in the repo (load-tests/reports).
• Honest scope: read path, local single node, deterministic agents — this measures OUR code, excluding LLM latency, which is metered per call in llm_call_logs.
• Profiles available: smoke(1), baseline(5), presentation(10→25), stress(20→50→100).
• p95 at 14 ms with a 1,500 ms threshold = the API layer will not be the bottleneck; models will be.
TRANSITION: What we haven't measured yet — said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Convert missing data from a weakness into a credible plan.
TIME: 0:45
TALKING POINTS:
• Every claim in this deck traces to a repo artifact; this slide is the honest list of what does not exist yet.
• Offer: the stress and soak runs are scripted — a week of runtime, not a quarter of engineering.
TRANSITION: When it does run in production, here's how we see inside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Show ops depth: metrics, traces, logs, plus product-native audit telemetry.
TIME: 1:15
TALKING POINTS:
• Unusual strength: observability data is also product data — llm_call_logs and ragas_evaluation_results feed both dashboards and customer-facing analytics.
• Verifier rejection rate is the single most important number: it detects AI quality drift before users do.
• Grafana dashboards flagged [TO COLLECT]; scrape config + alert rules already documented.
TRANSITION: The pipeline that ships all of this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Demonstrate professional release engineering on a two-person project.
TIME: 1:00
TALKING POINTS:
• Deliberate choice: production deploy is manual (workflow_dispatch) — a governance decision matching the product's philosophy of human gates.
• CI caught real regressions during the sprint (commits 86af044, cced496) — the gate is exercised, not decorative.
TRANSITION: What all this discipline produced — the numbers of the build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Quantify productivity: enterprise surface area from a 2-person, 13-day AI-assisted sprint.
TIME: 1:15
TALKING POINTS:
• 29k LOC with near 1:1 backend/frontend split plus a real docs corpus — unusual for a capstone.
• 95 backend tests include the culture-defining ones: chain-tamper detection and debate-termination proofs.
• Be upfront on gaps: coverage % not yet published; GitHub Issues unused (Kiro specs carried task tracking).
TRANSITION: Those 13 days, as a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Compress the journey into a story of compounding velocity.
TIME: 0:45
TALKING POINTS:
• Note the shape: build (4 days) → harden (2) → document (1) → prove (2). Documentation and proof got real calendar time — rare and deliberate.
• Dates verified from git history.
TRANSITION: What the sprint taught us — including our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Close the engineering story with earned humility — failures with receipts.
TIME: 1:30
TALKING POINTS:
• The first two are the deck's thesis in miniature: AI writes plausible code; verification culture makes it true.
• What we'd do differently: E2E test suite from day one (F4), automated backups earlier (O2), avoid --user pip installs in containers (the non-root lesson).
• Business lesson: writing the 20-doc handbook surfaced more product bugs than any single test run.
TRANSITION: Act VI — where this goes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Show the path is staged and credible, with the near column fixing every named weakness.
TIME: 1:15
TALKING POINTS:
• v0.2 column maps one-to-one to the SWOT weaknesses and [TO COLLECT] flags — deliberate.
• Enterprise column is sequenced by what unblocks sales: connectors → tenancy/SSO → certifications.
• AI frontier: continuous monitoring turns the product from quarterly tool into always-on control.
TRANSITION: We stand on open source — credit where 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Give genuine credit and demonstrate license hygiene.
TIME: 0:30
TALKING POINTS:
• All dependencies are version-pinned — reproducible builds.
• If asked about license audit: no copyleft dependencies in the runtime path; inventory is in the two manifest files.
TRANSITION: Let me bring it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Deliver the closing speech and the specific ask.
TIME: 1:00
TALKING POINTS:
• CLOSING SPEECH: 'Three weeks ago this was a question: can two engineers, working spec-first with AI, build an enterprise-grade answer to a fifty-year-old audit limitation? You've seen the answer run. Six agents argued real cases. A hash chain recorded every step. A human made every call that mattered. Sampling was never an audit principle — it was a technology limitation. The technology has changed. We ask for a pilot: one quarter of real ledger data, run beside your existing process. If we don't find what sampling misses, you've lost a week of compute. If we do — and the numbers say we will — you'll never sign off on 5% again.'
• Then the CTA line, verbatim, and pause.
TRANSITION: Thank you — questions welcome; we brought a 75-question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Open Q&amp;A with confidence.
TIME: Remainder
TALKING POINTS:
• Backup slides follow: 75-question Q&amp;A bank across 5 categories, ER diagram, deployment topology, feature flags, demo checklist, glossary, evidence-to-collect ledger.
• Route questions: business → slides 43; architecture/AI → 44; security → 45; performance/DevOps → 46; product/cost → 47.
TRANSITION: 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Navigation aid for Q&amp;A.
TIME: —
TALKING POINTS:
• Jump directly to the category slide matching the question.
TRANSITION: 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Answer Business &amp; market questions with prepared, evidence-backed responses.
TIME: as needed during Q&amp;A
FULL QUESTION BANK (15):
Q1: What problem does GL Guardian solve?
  EXEC: Audit teams sample ~5% of transactions and hope; we investigate 100% of flagged ones with an AI trial plus human sign-off.
  TECH: Rule pre-filter on CSV GL intake feeds a LangGraph pipeline: evidence RAG, Challenger/Defender debate, adjudication, verification, confidence-gated routing to human review, immutable audit log.
Q2: Who is the buyer and who is the user?
  EXEC: Buyers: audit directors, CFOs, compliance officers. Users: analysts and reviewers who work the case queue daily.
  TECH: RBAC roles map to them: analyst, reviewer, manager, partner, admin; segregation of duties is enforced by governance settings.
Q3: What is the ROI story?
  EXEC: Coverage goes from ~5% sampled to 100% of flagged items, investigation time from hours to minutes per case, with every decision evidenced for regulators.
  TECH: Auto-clear at confidence &gt;=0.90 removes low-risk cases from the human queue; LLM cost per case is metered in llm_call_logs so unit economics are measurable, not estimated.
Q4: How big is the market?
  EXEC: AI-in-audit is projected around $11.7B by 2033 at ~28% CAGR; anomaly-detection audit software alone is ~$1.2B in 2026 (external analyst estimates).
  TECH: Sources: market.us AI in Audit report; IntelMarket anomaly-detection accounting outlook; Wolters Kluwer survey - 39% of auditors use AI today, 41% plan adoption by 2026.
Q5: Why now?
  EXEC: LLMs finally make grounded reasoning over unstructured evidence affordable, and regulators increasingly expect full-population assurance.
  TECH: Multi-provider LLM routing (Groq/Gemini free tiers to Claude for critical steps) makes per-case inference cost controllable for the first time.
Q6: Who are your competitors?
  EXEC: MindBridge, AppZen, Caseware IDEA, DataSnipper - all strong at flagging anomalies; none run an adversarial investigation with cited evidence.
  TECH: They stop at risk scoring/anomaly detection. Our differentiation is the post-flag stage: debate, claim-level verification, confidence gate, hash-chained decision record.
Q7: Why won't an incumbent copy the debate feature?
  EXEC: They can copy a prompt; the defensible part is the verified, auditable pipeline - claim grounding, human gates, tamper-evident logs - built as one system.
  TECH: The moat is workflow depth: 14-table decision data model, verification claims, RAGAS scoring, replayable state checkpoints. That is product architecture, not a prompt.
Q8: What is the business model?
  EXEC: Not finalized for v0.1.0; natural options are per-seat plus per-case investigation pricing. [TO DECIDE]
  TECH: Cost telemetry per investigation (llm_call_logs) already supports usage-based pricing and margin tracking.
Q9: What does a customer need to adopt it?
  EXEC: A GL extract (CSV today), their policies for the knowledge base, and a reviewer workflow - it deploys on their infrastructure or cloud.
  TECH: Minimal deploy is API+UI+Postgres only; Redis/Celery/EventStoreDB are optional feature flags. ERP connectors are roadmap.
Q10: What is the biggest business risk?
  EXEC: Trust: auditors must believe the AI verdicts. That is why every claim is cited, verified, and human-approved above risk thresholds.
  TECH: Mitigations: verifier QA gate, RAGAS evaluation scores per case, mandatory human review band (0.70-0.90), immutable audit chain for defensibility.
Q11: Is this replacing auditors?
  EXEC: No - it removes the sampling lottery and drudgery so auditors judge more cases with better evidence. Humans stay the decision-makers.
  TECH: Human-in-the-loop is a hard gate in the state machine, not a UI option; only low-risk high-confidence verified cases auto-clear.
Q12: What proof do you have that it works?
  EXEC: A working end-to-end platform: real agent runs, load-tested API, CI/CD, docs audit passed. Accuracy benchmarks on labeled fraud data are the next milestone. [TO COLLECT]
  TECH: 95 backend tests, ground-truth scoring harness (test_ground_truth_scoring.py), RAGAS judge integration; needs a labeled evaluation corpus for precision/recall claims.
Q13: What is the go-to-market?
  EXEC: Design-partner pilots with internal audit teams: run it beside their existing sampling process on one quarter of data and compare findings.
  TECH: The demo mode and load-test 'presentation' profile were built specifically to support live pilot evaluations.
Q14: Why did a two-person team build this instead of buying?
  EXEC: It is a capstone proving the pattern: spec-driven AI-assisted development can produce enterprise-grade software in weeks.
  TECH: ~29k lines of code, 20-document ops handbook, CI/CD and observability, built by 2 authors in ~13 days of commits using Kiro spec-driven development.
Q15: What would you do with funding/approval?
  EXEC: Three things: labeled-data accuracy benchmark, ERP connectors (SAP/Oracle/NetSuite), and a SOC 2 readiness track.
  TECH: Plus productionizing pgvector ANN indexing, autoscaled workers, and the multi-tenant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Answer Architecture &amp; AI agents questions with prepared, evidence-backed responses.
TIME: as needed during Q&amp;A
FULL QUESTION BANK (15):
Q1: Walk me through the architecture in one minute.
  EXEC: A Next.js UI talks to a FastAPI backend; six AI agents run investigations through a LangGraph state machine; Postgres stores everything including a tamper-evident audit chain.
  TECH: FastAPI + SQLAlchemy 2.0/Pydantic v2; LangGraph StateGraph with per-phase checkpoints; Postgres+pgvector, Redis (cache/broker/pub-sub), optional EventStoreDB; Celery worker+beat; WebSocket realtime via Redis pub/sub.
Q2: Why LangGraph over CrewAI/AutoGen or a bespoke orchestrator?
  EXEC: We needed a deterministic, auditable state machine - not free-form agent chat. LangGraph gives explicit nodes, edges and checkpoints.
  TECH: Cyclic debate with hard bounds (MAX_DEBATE_ROUNDS=2), conditional routing functions (_route_after_verification, _route_after_confidence_gate), and state checkpointing per phase into investigation_states. Free-form frameworks make termination and replay harder to prove.
Q3: Why six specialized agents instead of one strong prompt?
  EXEC: Adversarial structure surfaces what a single model glosses over: one agent must attack the transaction, another must defend it, a third judges.
  TECH: Separation also lets us route models per role - lightweight models for summaries, reasoning-class models for adjudication/verification - cutting cost without quality loss (routing.py).
Q4: How do agents communicate?
  EXEC: Through a shared, versioned case state - every message is persisted, so the whole debate is replayable.
  TECH: LangGraph shared state (evidence, debate_transcript, adjudication, verification, routing); transcripts persist to debate_transcripts; realtime fan-out via Redis pub/sub to WebSocket clients.
Q5: What stops the debate looping forever?
  EXEC: Hard bounds - at most two debate rounds, then the judge must rule.
  TECH: debate_round increments in the defender node; route_debate enforces MAX_DEBATE_ROUNDS; a termination test proves it. This was an actual bug we found and fixed (Lessons Learned #4).
Q6: Which LLMs do you use and why several?
  EXEC: Five providers - Anthropic, OpenAI, Google, Groq, DeepSeek - so we can balance quality, cost and availability per task.
  TECH: routing.py picks reasoning-class models for critical request types (adjudication, verification, final_report) and lightweight models for simple ones; tenacity retries transient errors on the same provider before falling back to the next.
Q7: How is the RAG layer built?
  EXEC: Company policies and reference data are embedded into a knowledge base the Evidence agent cites from.
  TECH: pgvector embeddings in vector_embeddings, retriever in app/knowledge; corpus of policy sources/chunks; reindex endpoint. ANN indexing at scale is a tracked known issue (B3).
Q8: What happens when an LLM provider is down?
  EXEC: The system retries, then falls back to another provider; if everything fails the case fails safely and visibly - never silently.
  TECH: tenacity.Retrying on transient timeout/network/provider errors, then ordered provider fallback; investigations get a first-class FAILED status with error_message and rollback, not a fake CLOSED.
Q9: Can you run without the AI - or without half the infrastructure?
  EXEC: Yes. A minimal deployment is just the app plus Postgres; heavier infra is switched on as you scale.
  TECH: Feature flags: USE_CELERY, USE_REDIS_EVENTS, USE_EVENTSTORE, USE_REAL_AGENTS. With all off, investigations run in-process with deterministic stub agents and audit falls back to a Postgres hash chain.
Q10: How do you keep AI answers grounded?
  EXEC: A dedicated Verifier agent QA-gates every claim against collected evidence before any verdict counts.
  TECH: verification_claims stores claim-level grounding; failed verification triggers bounded retries then escalation; RAGAS LLM-judge scores (faithfulness etc.) persist per case in ragas_evaluation_results.
Q11: What was the hardest engineering problem?
  EXEC: Real-time updates across processes - the worker and the web server do not share memory.
  TECH: Celery worker events could not reach API-process WebSocket clients; fixed with a Redis pub/sub bridge (redis_bus.py) publishing investigation_events:{id}, subscribed by the WS endpoint.
Q12: Which architectures did you reject?
  EXEC: Free-form multi-agent chat (unauditable), a monolith without async isolation, and mandatory EventStoreDB (too heavy for small deployments).
  TECH: Also rejected: pip --user installs in non-root containers (broke entrypoints), the abandoned esdb client (replaced with esdbclient + Postgres fallback), and in-process-only event fan-out.
Q13: How does the frontend stay in sync during a long investigation?
  EXEC: The case page updates live as agents work, with a polling safety net.
  TECH: WebSocket per investigation with capped reconnects honoring close codes; TanStack Query invalidation driven by realtime events; slow polling only as fallback (Lessons Learned #15).
Q14: Is the system idempotent / replayable?
  EXEC: Every phase checkpoint and every message is stored, so any case can be replayed and inspected after the fact.
  TECH: investigation_states checkpoints per phase; replay endpoint; audit_log hash chain gives ordering guarantees per investigation via sequence numbers.
Q15: What is the data model?
  EXEC: Fourteen tables covering the case lifecycle: evidence, debate, verification, review, audit, cost and quality telemetry.
  TECH: Core: users, investigations, investigation_states, debate_transcripts, evidence_artifacts, verification_claims, third_party_evidence_verifications, audit_log, request_logs, llm_call_logs, ragas_evaluation_results, review_queue, vector_embeddings, runtime_settings. Alembic-managed.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Answer Security, compliance &amp; privacy questions with prepared, evidence-backed responses.
TIME: as needed during Q&amp;A
FULL QUESTION BANK (15):
Q1: How is the platform secured?
  EXEC: JWT auth with bcrypt passwords, role-based access with five roles, and auth force-enabled in production.
  TECH: OAuth2 password grant, HS256 JWT signed with SECRET_KEY, 30-min expiry; AUTH_REQUIRED forced true when ENV=production by a startup safety check; elevated roles gate destructive/admin routes.
Q2: How do you prevent one person approving their own case?
  EXEC: Segregation of duties is a governance setting enforced by the platform, on by default.
  TECH: ENFORCE_SEGREGATION_OF_DUTIES=true; owner vs reviewer separation in the review workflow; role checks via require_elevated_role.
Q3: How is the audit trail tamper-evident?
  EXEC: Every business event is hash-chained - like a lightweight blockchain - so any alteration is detectable.
  TECH: SHA-256 chain: each audit_log row hashes the previous row's hash plus a per-investigation sequence; a test tampers a row and proves detection; optional EventStoreDB for append-only storage with Postgres fallback.
Q4: Where do secrets live?
  EXEC: In environment stores - never in the repository or images.
  TECH: .env files gitignored; GitHub Actions Secrets for CI; platform secret stores for Railway/K8s; documented rotation runbook. A historical key exposure was caught in review - keys rotated, process documented (DEPLOYMENT_GUIDE §0).
Q5: What data does the LLM see - is customer data used for training?
  EXEC: Only case-relevant excerpts go to providers under their enterprise API terms, which exclude training on API data; a private-model option is on the roadmap.
  TECH: Prompts carry transaction fields + retrieved policy chunks; provider choice is configurable per deployment, so data-residency-sensitive customers can pin to a single approved provider or future self-hosted models.
Q6: Is it GDPR/DPDP-ready?
  EXEC: The design supports data minimization and full traceability; a formal privacy assessment is scheduled before enterprise pilots. [TO COLLECT]
  TECH: PII surface is limited to vendor/employee transaction fields; request_logs and audit_log provide access accountability; deletion/retention policies need productization.
Q7: SOC 2 / ISO 27001 status?
  EXEC: Not certified - this is v0.1.0. The control groundwork (RBAC, audit chain, request logging, runbooks, DR docs) is deliberately SOC-2-shaped.
  TECH: Docs include SECURITY, INCIDENT_RESPONSE, BACKUP_RESTORE, DISASTER_RECOVERY with RPO/RTO; gap: automated backups and quarterly restore drills are tracked, not yet automated (O2).
Q8: How do you handle prompt injection from malicious transaction data?
  EXEC: Untrusted data is treated as evidence to verify, never as instructions - and a human still gates risky outcomes.
  TECH: Structured prompts separate data from instructions; Verifier checks claims against sources; confidence gate + human review bound the blast radius. Formal red-team pass is on the roadmap. [TO COLLECT]
Q9: What about model hallucinations creating false accusations?
  EXEC: A case cannot close on unverified claims, and anything borderline goes to a human reviewer with the evidence attached.
  TECH: Claim-level verification with bounded retries then escalation; RAGAS faithfulness scoring; auto-clear only for verified + low-risk + confidence &gt;=0.90.
Q10: Network exposure?
  EXEC: TLS at the edge, explicit allowed origins and hosts in production - no wildcards.
  TECH: CORS_ORIGINS/ALLOWED_HOSTS validated at startup; reverse proxy terminates TLS; internal services (Postgres/Redis/ESDB) not internet-exposed in the reference topology.
Q11: How are HTTP requests audited?
  EXEC: Every API request is logged with who, what, when - queryable from the product itself.
  TECH: request_logging middleware persists to request_logs (excluding health/docs), exposed at /api/v1/audit/requests; request_id correlates client errors to server traces.
Q12: Rate limiting / abuse protection?
  EXEC: Built into the API core.
  TECH: app/core/rate_limit.py middleware; per-route dependencies; complements upstream proxy limits.
Q13: Can we self-host fully air-gapped?
  EXEC: The platform self-hosts today; fully air-gapped requires a local LLM, which the provider abstraction was designed to accommodate.
  TECH: Provider interface in app/llm/providers makes an on-prem endpoint (vLLM/Ollama-style) a bounded integration; RAG and audit layers are already local.
Q14: Who can delete data?
  EXEC: Only elevated roles - and business events remain in the immutable chain.
  TECH: Destructive routes (e.g. DELETE /investigations/all) require elevated roles; SECURITY.md flags verifying every such route as an ongoing control check.
Q15: What was your worst security finding so far?
  EXEC: Live API keys were committed to the repo early on; we caught it, rotated everything, and now enforce gitignore + secret-store discipline.
  TECH: Documented in DEPLOYMENT_GUIDE §0 as a must-fix with verification commands (git ls-files Backend/.env) - honesty in the runbook is part of the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Answer Performance, scalability &amp; DevOps questions with prepared, evidence-backed responses.
TIME: as needed during Q&amp;A
FULL QUESTION BANK (15):
Q1: What are the headline performance numbers?
  EXEC: k6 presentation profile: p95 of 14.3ms, zero failures over 6,672 calls at 25 VUs. Live production smoke (2026-07-08): median 220ms, p95 1.25s, 0% errors.
  TECH: k6 read-path, local, stub agents: avg 5.6ms, med 4.3ms, p95 14.3ms, p99 23.0ms, 22.2 req/s, 0% failed. Live Railway smoke, 80 requests, single external client: med 220ms, avg 334ms, p95 1.25s (TLS + DB round-trips on cold paths), 0% errors; Vercel UI TTFB p95 247ms.
Q2: Those numbers look small - what is the catch?
  EXEC: They cover the API read path on a local single node, deliberately excluding LLM latency; full agent-run latency is dominated by model calls.
  TECH: USE_REAL_AGENTS=false in load runs so results are deterministic and cheap. LLM latency is tracked separately per call in llm_call_logs. Cloud-environment run + CPU/memory capture are on the collect list. [TO COLLECT]
Q3: How long does one investigation take end-to-end?
  EXEC: Minutes with real models - versus hours of manual work; exact distribution per provider is being benchmarked. [TO COLLECT]
  TECH: Pipeline is 6 sequential agent phases with &lt;=2 debate rounds; latency budget is provider-bound; per-phase timings are recoverable from investigation_states + llm_call_logs.
Q4: How does it scale?
  EXEC: Each layer scales independently: stateless API replicas, queue-backed workers, managed Postgres.
  TECH: Horizontal API scaling behind LB; Celery workers scale by queue depth; Redis broker; pgvector ANN indexing and read replicas are the known next steps for data-layer scale (B3/B4).
Q5: What is the concurrency model for investigations?
  EXEC: Investigations run as background jobs, so a burst of cases queues rather than crashes.
  TECH: USE_CELERY=true routes execution to workers; beat schedules periodic tasks; in-process mode exists for small deploys. Backpressure = broker queue; alert on queue depth is a suggested Prometheus rule.
Q6: Have you done stress and soak testing?
  EXEC: Stress profile up to 100 virtual users is scripted; a long soak run is scheduled before production sign-off. [TO COLLECT]
  TECH: k6 profiles: smoke(1 VU), baseline(5), presentation(10-&gt;25), stress(20-&gt;50-&gt;100 with p95&lt;2500ms threshold). Soak profile needs adding; comprehensive Python runner also validates Prometheus counters move during agent runs.
Q7: What were the bottlenecks you found?
  EXEC: Dashboard over-fetching and unbounded queries - fixed with limits and pagination before they hurt.
  TECH: Bounded /analytics/trend limit param; TanStack pagination on tables; paged intake preview (Lessons Learned #14). Sync-in-async DB calls re-verification is tracked (B1).
Q8: How do you control LLM cost?
  EXEC: Route cheap models to cheap work, meter every call, and alert on spend spikes.
  TECH: routing.py lightweight-vs-reasoning selection by request type/complexity; prompt compaction (tokenization.py); per-call cost in llm_call_logs; /analytics/llm/cost-trends; suggested alert: LLM cost/hour &gt; budget.
Q9: What does the CI/CD pipeline look like?
  EXEC: Every change is linted, tested and built on both stacks; merged code ships as immutable images; production deploys are one manual, audited action.
  TECH: GitHub Actions: backend (ruff E,F,W + pytest, Python 3.11) and frontend (pnpm lint/typecheck/test/build, Node 22) in parallel -&gt; Docker build/push to GHCR (SHA + latest tags) on main -&gt; workflow_dispatch SSH deploy: compose pull, alembic upgrade via migrate job, up -d.
Q10: How do you roll back?
  EXEC: Redeploy the previous image tag - every build is kept, addressed by commit.
  TECH: Immutable SHA tags on GHCR; RUNBOOK rollback procedure; DB migrations are Alembic-versioned (downgrade paths case-by-case).
Q11: What observability exists in production?
  EXEC: Metrics, traces, structured logs, and four queryable audit tables - the product can explain itself.
  TECH: prometheus-fastapi-instrumentator at /metrics (HTTP + gl_guardian_investigations_total, debate rounds, verification results, LLM cost/latency/tokens); optional LangSmith traces per LLM call; request_logs/audit_log/llm_call_logs/ragas_evaluation_results in DB; suggested alert pack in MONITORING_LOGGING.md.
Q12: Grafana dashboards?
  EXEC: Prometheus feeds any Grafana; a curated dashboard pack is on the collect list. [TO COLLECT]
  TECH: Metrics are exposed and scrape config documented; dashboard JSON not yet in repo - flagged as pre-presentation evidence to produce.
Q13: What is availability like - what fails first?
  EXEC: The design degrades gracefully: optional infra can fail and the core keeps working.
  TECH: EventStore down -&gt; Postgres hash-chain fallback; Redis down -&gt; in-process events (single-node mode); LLM down -&gt; retry then provider fallback; health endpoints (/health, /health/detailed) drive SEV1 alerts.
Q14: Kubernetes-ready?
  EXEC: A manifest exists; certifying probes, resources and replicas for a real cluster is a tracked pre-production task.
  TECH: Backend/k8s-deployment.yaml present; known issue O1: certify readiness/liveness probes, resource requests/limits, replica counts before cluster use.
Q15: How fast is the dev loop - what did CI catch?
  EXEC: CI caught real regressions during the sprint, including lint and unrelated test breakage - the gate stayed green.
  TECH: Commits 86af044 and cced496 document CI stabilization; concurrency group cancels superseded runs; local reproduction commands documented in CICD.md.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Answer Product, cost, enterprise &amp; risk questions with prepared, evidence-backed responses.
TIME: as needed during Q&amp;A
FULL QUESTION BANK (15):
Q1: What is in v0.1.0 today vs mocked?
  EXEC: The backend pipeline, agents, audit chain, auth and analytics are real; parts of the UI still run on mock fixtures and are being wired to live APIs.
  TECH: Backend routes are live (16 route modules); UI services layer has mock fixtures for some views; USE_REAL_AGENTS toggles real LLM reasoning vs deterministic stubs for development.
Q2: What does deployment cost?
  EXEC: A demo runs on free tiers (Vercel, Render/Railway, Neon, Groq/Gemini); production cost scales mainly with LLM usage, which we meter per case.
  TECH: DEPLOYMENT_GUIDE documents a $0 reference stack; production drivers: LLM tokens (metered), Postgres, worker compute. [TO COLLECT: pilot cost-per-case actuals]
Q3: What are the top roadmap items?
  EXEC: ERP connectors, accuracy benchmarking on labeled data, multi-tenancy, and enterprise SSO.
  TECH: Plus pgvector ANN indexing, E2E test suite for the core flow (F4), automated backups/DR drills (O2), K8s certification (O1), local-model support.
Q4: Which ERPs will you integrate first?
  EXEC: SAP and NetSuite lead the pilot conversations; CSV intake works with any GL today.
  TECH: Intake is already normalized (rule pre-filter over normalized transactions), so connectors are adapters, not re-architecture.
Q5: How configurable are the risk thresholds?
  EXEC: Fully - confidence bands, debate rounds, and governance toggles are runtime settings, not code.
  TECH: runtime_settings singleton (governance_store.py) + /settings API; MAX_DEBATE_ROUNDS, confidence gate bands, SoD enforcement all configurable.
Q6: What file/report outputs exist?
  EXEC: Each closed case produces a cited investigation report and a complete audit trail export.
  TECH: Report generation in MD/HTML/PDF; reports API; audit endpoints for chain export; sample outputs in Docs/Sample_output.
Q7: How do reviewers interact with a case?
  EXEC: A review queue with approve, escalate, and request-more-evidence actions - each recorded immutably.
  TECH: review_queue table + reviews API; actions append audit events; UI case workspace shows evidence, debate transcript, verification claims, and confidence.
Q8: What is the riskiest assumption in the product?
  EXEC: That verified AI debate output is accurate enough to auto-clear the lowest-risk band; we hold it accountable with metrics and can set auto-clear to zero.
  TECH: Auto-clear is threshold-gated and can be disabled; RAGAS + ground-truth scoring harness exist to measure it; labeled corpus is the missing evidence. [TO COLLECT]
Q9: Why Railway/Neon for the current deployment?
  EXEC: Fast, cheap, and honest for a capstone - the same containers run on K8s or any Docker host when an enterprise needs it.
  TECH: railway.*.json config-as-code for api/worker/beat from one image; Neon serverless Postgres; docker-compose.production.yml and k8s-deployment.yaml are the portability proof.
Q10: How was AI used to build the product itself?
  EXEC: Spec-driven development with Kiro: requirements, design, tasks and acceptance criteria generated and versioned before code; humans reviewed and steered every step.
  TECH: .kiro/specs/storytelling holds a full 2,939-line spec set (requirements, design, tasks, acceptance criteria, vertical-slice plan); the docs audit and fixes workflow (BACKEND_FIXES.md -&gt; Docs/) shows the same loop on the backend.
Q11: Where did humans intervene most?
  EXEC: Architecture decisions, security review, fixing AI blind spots - like a fake hash chain and a compiled-but-never-invoked agent graph.
  TECH: Lessons Learned #5 and #7: humans caught dead code and a non-functional integrity check; both fixed with tests proving behavior. That is the collaboration model: AI drafts, humans verify with tests.
Q12: What breaks first if usage 10x-es?
  EXEC: Nothing user-facing immediately - the queue absorbs bursts; the data layer is the first thing we would upgrade.
  TECH: Order: pgvector ANN index (B3), read replicas/bounded analytics (B4), worker autoscaling on queue depth, then API replicas. All tracked in KNOWN_ISSUES.
Q13: Compliance frameworks targeted?
  EXEC: SOX-style internal controls first (it is an audit tool), then SOC 2 for us as a vendor.
  TECH: Hash-chained audit log, SoD, RBAC and request logging map to common SOX ITGC expectations; formal mapping doc is roadmap. [TO COLLECT]
Q14: What is the single metric you watch?
  EXEC: Verifier rejection rate - it tells us whether AI output quality is drifting before customers ever see it.
  TECH: gl_guardian_verification_results_total by outcome in Prometheus; rising rejections/escalations = quality regression signal (MONITORING_LOGGING 'what to watch').
Q15: If the panel remembers one thing?
  EXEC: Sampling was a technology limitation, not an audit principle. GL Guardian removes the limitation: 100% coverage, every verdict evidenced, humans in charge.
  TECH: And it is real: LangGraph pipeline, 14-table model, hash-chained audit, 5-provider LLM gateway, CI/CD, load-tested, 20-doc ops handbook - built in a 13-day sprint by two people with AI assistance.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Reference for data-model questions.
TIME: as needed
TALKING POINTS:
• investigations is the spine; states checkpoint the pipeline per phase (replay); audit_log is the hash chain with per-investigation sequences.
• llm_call_logs + ragas_evaluation_results double as product analytics and observability.
• vector_embeddings holds RAG chunks (policy KB) with pgvector column.
TRANSITION: 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Reference for deployment questions.
TIME: as needed
TALKING POINTS:
• Same containers across all three targets; portability is proven by config, not promised.
• Railway gotcha (documented): split services must resolve identical shared variables or worker/beat connect to a different backend.
• Rollback = redeploy previous SHA tag.
TRANSITION: 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Reference for 'how heavy is a minimal deploy' questions.
TIME: as needed
TALKING POINTS:
• Minimal production deploy: UI + API + Postgres. Everything else is a flag.
• The production safety check forcing AUTH_REQUIRED=true is a startup assertion, not documentation.
TRANSITION: 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Operational checklist so any team member can run the demo.
TIME: — (prep artifact)
TALKING POINTS:
• Three-layer fallback: live → stub mode → recorded video.
• The 'never refresh mid-execution' rule exists because WebSocket reconnect churn is user-visible.
TRANSITION: 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Shared vocabulary for mixed executive/technical audiences.
TIME: —
TALKING POINTS:
• Use when a question reveals a terminology gap.
TRANSITION: 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Integrity slide — the explicit list of what we did NOT claim.
TIME: —
TALKING POINTS:
• If a panelist asks for any number not in the deck, it is probably on this list with a production plan.
• Order of priority for the next two weeks: accuracy benchmark, E2E latency, cloud load run.
TRANSITION: 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Prove the system is really deployed and really measured.
TIME: as needed (Q&amp;A)
TALKING POINTS:
• Method: 80 sequential HTTPS requests to /health and /health/detailed plus 10 to the UI, from one external client, 2026-07-08.
• The p95 ≈ 1.25 s bucket reflects TLS handshakes + DB round-trips on cold paths; median is 220 ms.
• Verification is repeatable: curl the two health endpoints and /metrics — commands in Docs/LIVE_DATA_VALIDATION.md §8.
TRANSITION: 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Visual proof the product exists and runs on real data.
TIME: as needed (Q&amp;A)
TALKING POINTS:
• All four screenshots captured programmatically from the live deployment on 2026-07-08 — no staging, no mockups.
• The debate screenshot shows a real adjudicator verdict citing the actual policy KB (approval-matrix-4.2-sec-2.1).
• The activity log shows the real hash-chain integrity banner and per-event SHA-256 prefixes.
TRANSITION: 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image" Target="../media/image-5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194560" y="5394960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291840" y="731520"/>
            <a:ext cx="73152" cy="73152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663440" y="58521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223760" y="822960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595360" y="5577840"/>
            <a:ext cx="73152" cy="73152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07040" y="12801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247120" y="4754880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92640" y="292608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3474720"/>
            <a:ext cx="73152" cy="73152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6928" y="1847088"/>
            <a:ext cx="603504" cy="603504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p/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839" y="2003999"/>
            <a:ext cx="289682" cy="28968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24688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GUARDIAN</a:t>
            </a:r>
            <a:endParaRPr lang="en-US" sz="5400" dirty="0"/>
          </a:p>
        </p:txBody>
      </p:sp>
      <p:sp>
        <p:nvSpPr>
          <p:cNvPr id="15" name="Text 12"/>
          <p:cNvSpPr/>
          <p:nvPr/>
        </p:nvSpPr>
        <p:spPr>
          <a:xfrm>
            <a:off x="566928" y="34290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flagged transaction gets a trial — AI-powered audit investigation with adversarial agents, verified evidence, and a tamper-evident record.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66928" y="5212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Athitthiyan A  ·  Aravinth Jay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· v0.1.0 · Executive &amp; Technical Review · July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 minutes in one slide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6002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1709562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18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2167128"/>
            <a:ext cx="49651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teams sample ~5% of transactions. Fraud, error and policy abuse hide in the unexamined 95%, and manual investigation of one flag takes hours.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91072" y="141732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6002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14" y="1709562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22592" y="1618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92240" y="2167128"/>
            <a:ext cx="49651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crew investigates 100% of flagged items: evidence with citations, a Challenger-vs-Defender debate, claim verification, and a confidence gate that routes risk to humans.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731520" y="40233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" y="4132722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40416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49808" y="4590288"/>
            <a:ext cx="49651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human review bands, role-based governance, segregation of duties, and a SHA-256 hash-chained audit log a regulator can replay.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91072" y="384048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0233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314" y="4132722"/>
            <a:ext cx="201900" cy="201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22592" y="40416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&amp; deployed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492240" y="4590288"/>
            <a:ext cx="49651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 with 98 real cases: UI on Vercel, API on Railway + Neon (DB connected, auth enforced, hash chain verified). k6: p95 14.3 ms; live smoke: median 257 ms, p95 329 ms, 0% errors.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6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endorse pilot on real ledger data + accuracy benchmark sprint.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problem to engineering evidence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40 minutes · demo included · Q&amp;A bank in backup slides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arc:  😟 unease  →  🤔 skepticism  →  💡 insight  →  🛠️ confidence  →  🎬 proof  →  🚀 action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611880" cy="2011680"/>
          </a:xfrm>
          <a:prstGeom prst="roundRect">
            <a:avLst>
              <a:gd name="adj" fmla="val 3182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174650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The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103120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spots, broken tools, our vision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3081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7408" y="1600200"/>
            <a:ext cx="3611880" cy="2011680"/>
          </a:xfrm>
          <a:prstGeom prst="roundRect">
            <a:avLst>
              <a:gd name="adj" fmla="val 3182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174650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Market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8576" y="2103120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competitors, differentiation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08576" y="3081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66176" y="1600200"/>
            <a:ext cx="3611880" cy="2011680"/>
          </a:xfrm>
          <a:prstGeom prst="roundRect">
            <a:avLst>
              <a:gd name="adj" fmla="val 3182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67344" y="174650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Product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67344" y="2103120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user journey, success metrics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67344" y="3081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611880" cy="2011680"/>
          </a:xfrm>
          <a:prstGeom prst="roundRect">
            <a:avLst>
              <a:gd name="adj" fmla="val 3182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9808" y="403250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· Engineering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" y="4389120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workflow, architecture, agents, guardrails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9808" y="5367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11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07408" y="3886200"/>
            <a:ext cx="3611880" cy="2011680"/>
          </a:xfrm>
          <a:prstGeom prst="roundRect">
            <a:avLst>
              <a:gd name="adj" fmla="val 3182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08576" y="403250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· Proof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08576" y="4389120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demo, load tests, CI/CD, metrics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08576" y="5367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66176" y="3886200"/>
            <a:ext cx="3611880" cy="2011680"/>
          </a:xfrm>
          <a:prstGeom prst="roundRect">
            <a:avLst>
              <a:gd name="adj" fmla="val 3182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467344" y="403250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· Forward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67344" y="4389120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lessons, the ask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467344" y="5367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 min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· THE PROBLEM · 😟 UNEASE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95% blind spot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257860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a typical audit actually samples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0" y="1920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480560" y="257860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ledger relies on extrapolation and hope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38160" y="1920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6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8138160" y="257860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lost to fraud per typical ACFE estimates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114800"/>
            <a:ext cx="10607040" cy="1554480"/>
          </a:xfrm>
          <a:prstGeom prst="roundRect">
            <a:avLst>
              <a:gd name="adj" fmla="val 4706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425196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quarter we sign off on thousands of journal entries we have never looked at. Sampling isn't an audit principle — it's a technology limitation.”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internal auditor persona our product was designed around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manual investigation is slow, shallow, and unrecorded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03504" y="1600200"/>
            <a:ext cx="1975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GL to Excel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quarterly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70048" y="2080260"/>
            <a:ext cx="914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98064" y="160020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52928" y="1600200"/>
            <a:ext cx="1975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sample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~5%, judgment-based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19472" y="2080260"/>
            <a:ext cx="914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47488" y="160020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02352" y="1600200"/>
            <a:ext cx="1975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evidence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PDFs, calls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68896" y="2080260"/>
            <a:ext cx="914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296912" y="160020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51776" y="1600200"/>
            <a:ext cx="1975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memo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flagged item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18320" y="2080260"/>
            <a:ext cx="914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46336" y="1600200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0" y="1600200"/>
            <a:ext cx="1975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audit trail of the 'why'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1520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3309762"/>
            <a:ext cx="201900" cy="2019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80160" y="3218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case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49808" y="3767328"/>
            <a:ext cx="49651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lives in silos; one suspicious payment can take an afternoon to run down.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291072" y="301752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473952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14" y="3309762"/>
            <a:ext cx="201900" cy="2019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22592" y="3218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opinion</a:t>
            </a:r>
            <a:endParaRPr lang="en-US" sz="1450" dirty="0"/>
          </a:p>
        </p:txBody>
      </p:sp>
      <p:sp>
        <p:nvSpPr>
          <p:cNvPr id="28" name="Text 24"/>
          <p:cNvSpPr/>
          <p:nvPr/>
        </p:nvSpPr>
        <p:spPr>
          <a:xfrm>
            <a:off x="6492240" y="3767328"/>
            <a:ext cx="49651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tired analyst decides; there is no structured challenge to their conclusion.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548640" y="470916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731520" y="48920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" y="5001402"/>
            <a:ext cx="201900" cy="2019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280160" y="4910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without receipts</a:t>
            </a:r>
            <a:endParaRPr lang="en-US" sz="1450" dirty="0"/>
          </a:p>
        </p:txBody>
      </p:sp>
      <p:sp>
        <p:nvSpPr>
          <p:cNvPr id="33" name="Text 28"/>
          <p:cNvSpPr/>
          <p:nvPr/>
        </p:nvSpPr>
        <p:spPr>
          <a:xfrm>
            <a:off x="749808" y="5458968"/>
            <a:ext cx="49651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are recorded, but rarely the evidence chain behind them — painful when regulators ask.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6291072" y="470916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5" name="Shape 30"/>
          <p:cNvSpPr/>
          <p:nvPr/>
        </p:nvSpPr>
        <p:spPr>
          <a:xfrm>
            <a:off x="6473952" y="48920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314" y="5001402"/>
            <a:ext cx="201900" cy="2019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022592" y="4910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theater</a:t>
            </a:r>
            <a:endParaRPr lang="en-US" sz="1450" dirty="0"/>
          </a:p>
        </p:txBody>
      </p:sp>
      <p:sp>
        <p:nvSpPr>
          <p:cNvPr id="38" name="Text 32"/>
          <p:cNvSpPr/>
          <p:nvPr/>
        </p:nvSpPr>
        <p:spPr>
          <a:xfrm>
            <a:off x="6492240" y="5458968"/>
            <a:ext cx="49651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95% never sampled gets zero scrutiny; repeat offenders learn the thresholds.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flag. Nobody investigates.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is a smoke alarm — it doesn't tell you if there's a fire.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Anomaly-detection tools (MindBridge, Caseware IDEA…)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Guardian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 100% of 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risk scores on full population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plus rule pre-filter at intake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why a flag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— statistical reason codes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Cited evidence file per case (RAG + live third-party checks)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Challenges its own conclusion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 Challenger-vs-Defender debate, then an Adjudicator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Verifies claims before 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Verifier agent QA-gates every claim; bounded retries then escalation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 risk to humans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triage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gate: auto-clear / review / escalate bands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Defensible decision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exports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hash-chained, append-only audit 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· VISION · ✨ HOPE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every flagged transaction got a trial?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331720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537" y="2464857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2971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Prosecution builds the case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86968" y="35661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Challenger agent argues the worst-case interpretation with evidence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20440" y="21031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749040" y="2331720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177" y="2464857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21608" y="2971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answers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721608" y="35661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Defender agent argues the legitimate business rationale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55080" y="21031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583680" y="2331720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817" y="2464857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56248" y="2971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rules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56248" y="35661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Adjudicator weighs both sides into verdict + confidence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89720" y="21031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418320" y="2331720"/>
            <a:ext cx="512064" cy="512064"/>
          </a:xfrm>
          <a:prstGeom prst="ellipse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457" y="2464857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90888" y="2971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keep the gavel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390888" y="35661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uncertain or high-risk goes to a person — always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8580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5% sampled  →  100% of flagged transactions investigated, evidenced, and recorded.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·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market that hasn't solved the investigation step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analyst estimates — directional, cited in speaker notes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3736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589520" y="19202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589520" y="257860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projected for AI-in-audit software (market.us)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9520" y="33832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→ 80%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589520" y="40416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using AI today vs using-or-planning by 2026 (Wolters Kluwer)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709160"/>
            <a:ext cx="4023360" cy="1371600"/>
          </a:xfrm>
          <a:prstGeom prst="roundRect">
            <a:avLst>
              <a:gd name="adj" fmla="val 466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772400" y="48920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762" y="5001402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21040" y="49103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790688" y="5458968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Full-population assurance expectations, LLM cost collapse, regulator scrutiny of audit quality, AI-adoption mandates in the Big 4.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·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landscape: strong at flagging, absent at investigating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719072"/>
                <a:gridCol w="1719072"/>
                <a:gridCol w="1719072"/>
                <a:gridCol w="1719072"/>
                <a:gridCol w="17190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MindBridge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AppZen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Caseware 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DataSnipper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Guardian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79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risk scoring of ledgers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 / AP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analytics &amp; sampling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evidence workpapers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Post-flag AI investigation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population scoring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(expenses)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 debate &amp; adjudication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Claim-level verification (RAGAS)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 gates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bands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Hash-chained audit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Multi-LLM with fallback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providers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rows reflect public positioning as of mid-2026 — validate in discovery calls before customer-facing use.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·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— stated honestly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49240" cy="22402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527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892808"/>
            <a:ext cx="4983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investigation workflow, not just scores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chain + HITL governance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LLM gateway (cost &amp; resilience)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docs: runbooks, DR, security, 20 documents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91072" y="1417320"/>
            <a:ext cx="5349240" cy="22402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92240" y="1527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1892808"/>
            <a:ext cx="4983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 — no accuracy benchmark on labeled data yet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dataset still synthetic (load-test cases, no client ledger yet)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Two-person team; no enterprise support org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intake only; ERP connectors not built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349240" cy="22402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49808" y="3995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" y="4361688"/>
            <a:ext cx="4983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Post-flag investigation is unowned category whitespace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Big-4 AI adoption mandates &amp; full-population assurance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Expense/AP, AML, insurance claims — same trial pattern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Local-model deployments for data-sovereign buyers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91072" y="3886200"/>
            <a:ext cx="5349240" cy="22402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92240" y="3995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361688"/>
            <a:ext cx="4983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bolting LLM 'copilots' onto flagging tools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cost/latency shifts changing unit economics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posture on AI in assurance work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 cycle vs capstone-stage maturity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·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properties that make the difference defensible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49240" cy="22402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6459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1755282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64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by design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2212848"/>
            <a:ext cx="49651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model's opinion is trusted. Challenger and Defender must both make their best case before the Adjudicator rules — bias gets surfaced, not averaged.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91072" y="1463040"/>
            <a:ext cx="5349240" cy="22402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6459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14" y="1755282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22592" y="1664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before verdict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92240" y="2212848"/>
            <a:ext cx="49651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Verifier agent checks that every claim traces to collected evidence; RAGAS quality scores are stored per case. Unverified claims cannot close a case.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950208"/>
            <a:ext cx="5349240" cy="22402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731520" y="41330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" y="4242450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41513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hold authority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49808" y="4700016"/>
            <a:ext cx="49651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bands are governance settings: ≥0.90 verified low-risk may auto-clear, 0.70–0.90 must be reviewed, &lt;0.70 escalates. Segregation of duties enforced.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91072" y="3950208"/>
            <a:ext cx="5349240" cy="22402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1330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314" y="4242450"/>
            <a:ext cx="201900" cy="201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22592" y="41513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survives audit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492240" y="4700016"/>
            <a:ext cx="49651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SHA-256 hash-chained log of every event; tampering is mathematically detectable — proven by a test that tampers a row and catches it.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·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at a glance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PRD: Docs/GL_Guardian_PRD.pdf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6916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1801002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709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9808" y="2258568"/>
            <a:ext cx="4965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organization full-population audit assurance: 100% of flagged transactions investigated with evidence, adversarial reasoning, and human accountability.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31520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82" y="3309762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3218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objectives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49808" y="3767328"/>
            <a:ext cx="4965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investigation time from hours to minutes; make every verdict evidence-cited and replayable; keep humans in charge of all consequential outcomes; deploy on any infrastructure.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52628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47091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" y="4818522"/>
            <a:ext cx="201900" cy="201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4727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(RBAC)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49808" y="5276088"/>
            <a:ext cx="49651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— works cases and evidence. Reviewer — approves / escalates / requests evidence. Manager — queues and workload. Partner &amp; Admin — elevated: governance, thresholds, destructive actions. Segregation of duties on by default.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1508760"/>
            <a:ext cx="5349240" cy="2194560"/>
          </a:xfrm>
          <a:prstGeom prst="roundRect">
            <a:avLst>
              <a:gd name="adj" fmla="val 291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6446520" y="16916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882" y="1801002"/>
            <a:ext cx="201900" cy="2019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95160" y="17099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(shipped in v0.1.0)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464808" y="2258568"/>
            <a:ext cx="496519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intake + rule pre-filter · 6-agent investigation pipeline · debate transcripts · claim verification + third-party checks (FX, registry, fuel…) · confidence-gated routing · review queue · MD/HTML/PDF reports · hash-chained audit + request logs · LLM cost analytics · runtime governance settings · WebSocket live progress.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263640" y="3840480"/>
            <a:ext cx="5349240" cy="2377440"/>
          </a:xfrm>
          <a:prstGeom prst="roundRect">
            <a:avLst>
              <a:gd name="adj" fmla="val 2692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6446520" y="40233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5882" y="4132722"/>
            <a:ext cx="201900" cy="2019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95160" y="40416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6464808" y="4590288"/>
            <a:ext cx="496519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JWT + bcrypt, RBAC, auth forced on in production. Reliability: provider retry→fallback, FAILED as first-class state, Postgres fallback for audit. Performance: read-path p95 &lt; 1.5 s target (measured 14.3 ms). Observability: Prometheus + LangSmith + 4 audit tables. Portability: Docker/K8s/Railway; minimal deploy = app + Postgres.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·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journey: from CSV to closed case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03504" y="173736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→ rules flag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66544" y="2263140"/>
            <a:ext cx="54864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157984" y="173736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12848" y="173736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live APIs, cited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75888" y="2263140"/>
            <a:ext cx="54864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767328" y="173736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22192" y="173736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↔ Defender ≤2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85232" y="2263140"/>
            <a:ext cx="54864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376672" y="173736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31536" y="173736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Adjudicator + confidence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94576" y="2263140"/>
            <a:ext cx="54864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986016" y="173736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040880" y="173736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grounded? retry/escalate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03920" y="2263140"/>
            <a:ext cx="54864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595360" y="173736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50224" y="173736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auto-clear / review / escalate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113264" y="2263140"/>
            <a:ext cx="54864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204704" y="173736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259568" y="173736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MD/HTML/PDF + audit chain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confidence gate — governance, not code: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3703320"/>
            <a:ext cx="3108960" cy="621792"/>
          </a:xfrm>
          <a:prstGeom prst="roundRect">
            <a:avLst>
              <a:gd name="adj" fmla="val 8824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85800" y="370332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0.90 + verified + low risk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749040" y="4014216"/>
            <a:ext cx="45720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251960" y="3703320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251960" y="370332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480560"/>
            <a:ext cx="3108960" cy="621792"/>
          </a:xfrm>
          <a:prstGeom prst="roundRect">
            <a:avLst>
              <a:gd name="adj" fmla="val 8824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85800" y="448056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 – 0.90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749040" y="4791456"/>
            <a:ext cx="45720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251960" y="4480560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31479B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251960" y="448056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257800"/>
            <a:ext cx="3108960" cy="621792"/>
          </a:xfrm>
          <a:prstGeom prst="roundRect">
            <a:avLst>
              <a:gd name="adj" fmla="val 8824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85800" y="525780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0.70 or unverified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749040" y="5568696"/>
            <a:ext cx="45720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251960" y="5257800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C65A2E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251960" y="525780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review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040880" y="33101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 DASHBOARD · capestone-ey.vercel.app · 98 live cases 😊</a:t>
            </a:r>
            <a:endParaRPr lang="en-US" sz="950" dirty="0"/>
          </a:p>
        </p:txBody>
      </p:sp>
      <p:pic>
        <p:nvPicPr>
          <p:cNvPr id="42" name="Image 0" descr="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3566160"/>
            <a:ext cx="4572000" cy="2569464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·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 — eight working surfaces, one API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724912" cy="2103120"/>
          </a:xfrm>
          <a:prstGeom prst="roundRect">
            <a:avLst>
              <a:gd name="adj" fmla="val 3043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7373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1846722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755648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2304288"/>
            <a:ext cx="23408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distribution, case trends, agent health, LLM cost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65576" y="1554480"/>
            <a:ext cx="2724912" cy="2103120"/>
          </a:xfrm>
          <a:prstGeom prst="roundRect">
            <a:avLst>
              <a:gd name="adj" fmla="val 3043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48456" y="17373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818" y="1846722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97096" y="1755648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66744" y="2304288"/>
            <a:ext cx="23408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upload, rule pre-filter config, flagged preview (paged)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82512" y="1554480"/>
            <a:ext cx="2724912" cy="2103120"/>
          </a:xfrm>
          <a:prstGeom prst="roundRect">
            <a:avLst>
              <a:gd name="adj" fmla="val 3043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565392" y="17373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754" y="1846722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14032" y="1755648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83680" y="2304288"/>
            <a:ext cx="23408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list + workspace with live agent progress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299448" y="1554480"/>
            <a:ext cx="2724912" cy="2103120"/>
          </a:xfrm>
          <a:prstGeom prst="roundRect">
            <a:avLst>
              <a:gd name="adj" fmla="val 3043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482328" y="17373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690" y="1846722"/>
            <a:ext cx="201900" cy="201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30968" y="1755648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viewer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500616" y="2304288"/>
            <a:ext cx="23408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/ Defender / Adjudicator transcript per round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3931920"/>
            <a:ext cx="2724912" cy="2103120"/>
          </a:xfrm>
          <a:prstGeom prst="roundRect">
            <a:avLst>
              <a:gd name="adj" fmla="val 3043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731520" y="41148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882" y="4224162"/>
            <a:ext cx="201900" cy="2019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80160" y="4133088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explorer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49808" y="4681728"/>
            <a:ext cx="23408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RAG chunks, third-party verification results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465576" y="3931920"/>
            <a:ext cx="2724912" cy="2103120"/>
          </a:xfrm>
          <a:prstGeom prst="roundRect">
            <a:avLst>
              <a:gd name="adj" fmla="val 3043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3648456" y="41148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7818" y="4224162"/>
            <a:ext cx="201900" cy="2019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197096" y="4133088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panel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666744" y="4681728"/>
            <a:ext cx="23408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Claim-level grounding QA + RAGAS quality scores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382512" y="3931920"/>
            <a:ext cx="2724912" cy="2103120"/>
          </a:xfrm>
          <a:prstGeom prst="roundRect">
            <a:avLst>
              <a:gd name="adj" fmla="val 3043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6" name="Shape 28"/>
          <p:cNvSpPr/>
          <p:nvPr/>
        </p:nvSpPr>
        <p:spPr>
          <a:xfrm>
            <a:off x="6565392" y="41148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4754" y="4224162"/>
            <a:ext cx="201900" cy="2019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114032" y="4133088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6583680" y="4681728"/>
            <a:ext cx="23408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escalate, request-evidence — SoD enforced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9299448" y="3931920"/>
            <a:ext cx="2724912" cy="2103120"/>
          </a:xfrm>
          <a:prstGeom prst="roundRect">
            <a:avLst>
              <a:gd name="adj" fmla="val 3043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41" name="Shape 32"/>
          <p:cNvSpPr/>
          <p:nvPr/>
        </p:nvSpPr>
        <p:spPr>
          <a:xfrm>
            <a:off x="9482328" y="41148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1690" y="4224162"/>
            <a:ext cx="201900" cy="2019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0030968" y="4133088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analytics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9500616" y="4681728"/>
            <a:ext cx="23408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 explorer, request logs, LLM cost trends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/api/v1 (16 route modules) + WebSocket · OpenAPI docs at /docs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·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acceptance criteria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108960"/>
                <a:gridCol w="4297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v0.1.0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of flagged 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investigated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by design — every flagged case enters the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 turnaround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per case (vs hours manual)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runs end-to-end; per-provider latency benchmark [TO COLLECT]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grounding (verification pass rate)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closed case verified or human-reviewed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 by state machine; RAGAS scores recorded per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Auto-clear precision on labeled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set with pilot partner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Ground-truth scoring harness exists; labeled corpus [TO COLLECT]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read-path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&lt; 1.5 s under 25 VUs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p95 = 14.3 ms, 0% errors (k6, local)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Audit-chain integrity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 detection provable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— tamper test in suite passes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 (production)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 initial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smoke 2026-07-08: 0 errors over 80 reqs; 30-day uptime baseline [TO COLLECT]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·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— top risks and their mitigations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920240"/>
                <a:gridCol w="5760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 /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(built or planned)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hallucination → false accusation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 /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Verifier claim-gating, RAGAS scores, human review bands, auto-clear can be disabled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outage or price shock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 / 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5-provider gateway, same-provider retry then fallback, per-call cost metering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breach / key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stores + rotation runbook, RBAC, forced auth in prod; historical key leak fixed &amp; documented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pushback on AI in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 /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 mandatory bands, replayable evidence chain, human sign-off on all consequential outcomes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bottlenecks (vector search, analytics)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 / 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Known-issues backlog: pgvector ANN index, bounded queries shipped, worker autoscaling planned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resistance from auditors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 / 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Positioning as coverage-multiplier not replacement; evidence-first UX; pilot-beside-existing-process GTM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·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Kiro accelerated development: spec-driven, human-verified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490472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03504" y="1600200"/>
            <a:ext cx="1380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75688" y="2103120"/>
            <a:ext cx="4572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157984" y="1600200"/>
            <a:ext cx="1490472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12848" y="1600200"/>
            <a:ext cx="1380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stories, EARS-style criteria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85032" y="2103120"/>
            <a:ext cx="4572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767328" y="1600200"/>
            <a:ext cx="1490472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22192" y="1600200"/>
            <a:ext cx="1380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components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94376" y="2103120"/>
            <a:ext cx="4572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376672" y="1600200"/>
            <a:ext cx="1490472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31536" y="1600200"/>
            <a:ext cx="1380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estimated, prioritized epics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2103120"/>
            <a:ext cx="4572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986016" y="1600200"/>
            <a:ext cx="1490472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040880" y="1600200"/>
            <a:ext cx="1380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AI-generated, human-reviewed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13064" y="2103120"/>
            <a:ext cx="4572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595360" y="1600200"/>
            <a:ext cx="1490472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50224" y="1600200"/>
            <a:ext cx="1380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fix</a:t>
            </a:r>
            <a:endParaRPr lang="en-US" sz="110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bugs, tests prove fixes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22408" y="2103120"/>
            <a:ext cx="4572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204704" y="1600200"/>
            <a:ext cx="1490472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259568" y="1600200"/>
            <a:ext cx="1380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deploy</a:t>
            </a:r>
            <a:endParaRPr lang="en-US" sz="110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20-doc handbook, CI/CD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5440680" cy="1508760"/>
          </a:xfrm>
          <a:prstGeom prst="roundRect">
            <a:avLst>
              <a:gd name="adj" fmla="val 4242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31520" y="32461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3355482"/>
            <a:ext cx="201900" cy="2019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80160" y="3264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 the repository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749808" y="3813048"/>
            <a:ext cx="50566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.kiro/specs/storytelling: 2,939 lines across requirements.md, design.md, tasks.md, scene-acceptance-criteria.md, vertical-slice-plan.md — specs with user stories, acceptance criteria and story-point estimates generated before implementation.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4709160"/>
            <a:ext cx="5440680" cy="160020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731520" y="48920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82" y="5001402"/>
            <a:ext cx="201900" cy="2019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280160" y="4910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loop ran on the backend</a:t>
            </a:r>
            <a:endParaRPr lang="en-US" sz="1450" dirty="0"/>
          </a:p>
        </p:txBody>
      </p:sp>
      <p:sp>
        <p:nvSpPr>
          <p:cNvPr id="34" name="Text 30"/>
          <p:cNvSpPr/>
          <p:nvPr/>
        </p:nvSpPr>
        <p:spPr>
          <a:xfrm>
            <a:off x="749808" y="5458968"/>
            <a:ext cx="5056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BACKEND_FIXES.md → Docs/ audit trail shows AI-assisted find-fix-document cycles: 15 documented engineering challenges, each closed with a code fix plus a regression test, then folded into the 20-document ops handbook.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217920" y="3063240"/>
            <a:ext cx="5394960" cy="1508760"/>
          </a:xfrm>
          <a:prstGeom prst="roundRect">
            <a:avLst>
              <a:gd name="adj" fmla="val 4242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6" name="Shape 32"/>
          <p:cNvSpPr/>
          <p:nvPr/>
        </p:nvSpPr>
        <p:spPr>
          <a:xfrm>
            <a:off x="6400800" y="32461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162" y="3355482"/>
            <a:ext cx="201900" cy="2019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949440" y="32644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generated</a:t>
            </a:r>
            <a:endParaRPr lang="en-US" sz="1450" dirty="0"/>
          </a:p>
        </p:txBody>
      </p:sp>
      <p:sp>
        <p:nvSpPr>
          <p:cNvPr id="39" name="Text 34"/>
          <p:cNvSpPr/>
          <p:nvPr/>
        </p:nvSpPr>
        <p:spPr>
          <a:xfrm>
            <a:off x="6419088" y="3813048"/>
            <a:ext cx="50109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and scaffolding, spec documents, first-draft agent prompts, test skeletons, documentation set, fix suggestions for stack-trace-level bugs.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217920" y="470916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41" name="Shape 36"/>
          <p:cNvSpPr/>
          <p:nvPr/>
        </p:nvSpPr>
        <p:spPr>
          <a:xfrm>
            <a:off x="6400800" y="48920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62" y="5001402"/>
            <a:ext cx="201900" cy="20190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949440" y="49103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humans intervened</a:t>
            </a:r>
            <a:endParaRPr lang="en-US" sz="1450" dirty="0"/>
          </a:p>
        </p:txBody>
      </p:sp>
      <p:sp>
        <p:nvSpPr>
          <p:cNvPr id="44" name="Text 38"/>
          <p:cNvSpPr/>
          <p:nvPr/>
        </p:nvSpPr>
        <p:spPr>
          <a:xfrm>
            <a:off x="6419088" y="5458968"/>
            <a:ext cx="5010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choices (LangGraph, feature flags), security review (caught committed API keys), catching AI blind spots — a fake hash chain and a compiled-but-never-invoked agent graph — and every merge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·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contract: AI proposes, tests decide, humans approve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16233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828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(Kiro / LLMs)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specs &amp; acceptance criteria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code &amp; test skeletons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fixes from failures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documentation set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87952" y="3657600"/>
            <a:ext cx="192024" cy="0"/>
          </a:xfrm>
          <a:prstGeom prst="line">
            <a:avLst/>
          </a:prstGeom>
          <a:noFill/>
          <a:ln w="2857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407408" y="16459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36008" y="1828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233172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lint + 95 pytest tests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lint / typecheck / test / build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&amp; termination proof-tests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on every PR; images on main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3657600"/>
            <a:ext cx="192024" cy="0"/>
          </a:xfrm>
          <a:prstGeom prst="line">
            <a:avLst/>
          </a:prstGeom>
          <a:noFill/>
          <a:ln w="2857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66176" y="16459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94776" y="1828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(2 authors)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94776" y="233172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trade-off decisions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&amp; key rotation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plausible-but-wrong AI code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deploy, and own outcomes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AI-generated reaches main without passing the gates and a human decision — the same trust model our product applies to AI verdicts.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·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828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UI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TanStack · React Flow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337560" y="15544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API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/api/v1 + WebSocket · JWT/RBAC · rate limit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393192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37560" y="39319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+ beat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investigations (flag-gated)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554480"/>
            <a:ext cx="2468880" cy="1463040"/>
          </a:xfrm>
          <a:prstGeom prst="roundRect">
            <a:avLst>
              <a:gd name="adj" fmla="val 3750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46520" y="15544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crew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agents · bounded debate · checkpoints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18320" y="1554480"/>
            <a:ext cx="2194560" cy="1463040"/>
          </a:xfrm>
          <a:prstGeom prst="roundRect">
            <a:avLst>
              <a:gd name="adj" fmla="val 3750"/>
            </a:avLst>
          </a:prstGeom>
          <a:solidFill>
            <a:srgbClr val="0B122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464040" y="15544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· OpenAI · Gemini · Groq · DeepSeek · retry→fallback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93192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46520" y="393192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pgvector (RAG)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393192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75320" y="39319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· broker · pub/sub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921240" y="393192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966960" y="393192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EventStoreDB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PG hash-chain fallback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553212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46520" y="55321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evidence APIs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· registries · benchmarks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18320" y="553212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3F5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64040" y="5532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/metrics + LangSmith traces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51760" y="2286000"/>
            <a:ext cx="59436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480560" y="3017520"/>
            <a:ext cx="0" cy="86868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669280" y="2286000"/>
            <a:ext cx="68580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669280" y="4480560"/>
            <a:ext cx="68580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869680" y="2286000"/>
            <a:ext cx="50292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315200" y="3017520"/>
            <a:ext cx="0" cy="86868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961120" y="3017520"/>
            <a:ext cx="0" cy="86868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669280" y="4846320"/>
            <a:ext cx="685800" cy="86868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flags: USE_CELERY · USE_REDIS_EVENTS · USE_EVENTSTORE · USE_REAL_AGENTS — minimal deploy is UI + API + Postgres only.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·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choices — and what we traded away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834640"/>
                <a:gridCol w="3566160"/>
                <a:gridCol w="3108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 accepted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15 · React 19 · TS strict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Router + RSC; typed domain model; TanStack for server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Bleeding-edge versions → occasional ecosystem friction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· SQLAlchemy 2.0 · Pydantic 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Async-first, OpenAPI for free, strict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2.0/v2 migrations cost real debugging time (documented)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StateGraph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Deterministic, bounded, checkpointed, replayable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ceremony than free-form agent frameworks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pgvector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engine for OLTP + RAG; fewer moving parts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indexing work still ahead at scale (tracked B3)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&amp; events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+ Celery (flag-gated)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 absorption; cross-process realtime via pub/sub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complexity — off by default for small deploys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EventStoreDB, PG hash-chain fallback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semantics; graceful degradation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audit paths to keep consistent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5-provider gateway, role-based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control + resilience; no vendor lock-in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behavior varies per provider; needs eval discipline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· AI AGENTS · 🤝 TRUST THROUGH FRICTION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crew: six specialists, one courtroom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379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" y="2404872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case; routes between phases; owns the state machine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07408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08576" y="1801368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92024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84648" y="18379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26864" y="2404872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policy KB + live third-party APIs; every fact carries a citation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66176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67344" y="1801368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192024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43416" y="18379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85632" y="2404872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Argues the worst-case, fraud-first interpretation of the transaction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749808" y="4041648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6052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078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68096" y="4645152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Argues the legitimate business rationale with the same evidence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07408" y="3840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4608576" y="4041648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160520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84648" y="4078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Adjudicator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626864" y="4645152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both sides into a risk verdict + calibrated confidence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266176" y="3840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8467344" y="4041648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216" y="4160520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43416" y="4078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485632" y="4645152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QA-gates every claim for grounding; rejects → bounded retry → escalate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two human roles in the loop: Reviewer (0.70–0.90 band) and Escalation reviewer (&lt;0.70 / unverified).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· AI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pipeline — a bounded, checkpointed state machine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76072" y="1737360"/>
            <a:ext cx="15453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14600" y="173736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542032" y="1737360"/>
            <a:ext cx="16367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99432" y="1737360"/>
            <a:ext cx="16367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29400" y="173736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56832" y="1737360"/>
            <a:ext cx="16367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0" y="1737360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714232" y="1737360"/>
            <a:ext cx="17282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48840" y="2103120"/>
            <a:ext cx="3200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06240" y="2103120"/>
            <a:ext cx="3200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63640" y="2103120"/>
            <a:ext cx="3200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321040" y="2103120"/>
            <a:ext cx="3200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452360" y="1417320"/>
            <a:ext cx="0" cy="292608"/>
          </a:xfrm>
          <a:prstGeom prst="line">
            <a:avLst/>
          </a:prstGeom>
          <a:noFill/>
          <a:ln w="19050">
            <a:solidFill>
              <a:srgbClr val="C65A2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40680" y="1417320"/>
            <a:ext cx="2011680" cy="0"/>
          </a:xfrm>
          <a:prstGeom prst="line">
            <a:avLst/>
          </a:prstGeom>
          <a:noFill/>
          <a:ln w="19050">
            <a:solidFill>
              <a:srgbClr val="C65A2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440680" y="1417320"/>
            <a:ext cx="0" cy="292608"/>
          </a:xfrm>
          <a:prstGeom prst="line">
            <a:avLst/>
          </a:prstGeom>
          <a:noFill/>
          <a:ln w="19050">
            <a:solidFill>
              <a:srgbClr val="C6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120640" y="10789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6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loop · ≤ MAX_DEBATE_ROUNDS (2)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686800" y="3017520"/>
            <a:ext cx="178308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714232" y="3017520"/>
            <a:ext cx="17282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73768" y="2468880"/>
            <a:ext cx="0" cy="50292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641080" y="3383280"/>
            <a:ext cx="-5303520" cy="-868680"/>
          </a:xfrm>
          <a:prstGeom prst="line">
            <a:avLst/>
          </a:prstGeom>
          <a:noFill/>
          <a:ln w="19050">
            <a:solidFill>
              <a:srgbClr val="C6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383280" y="3154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+ retries left → re-collect evidence (≤1 retry)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06840" y="4160520"/>
            <a:ext cx="1143000" cy="960120"/>
          </a:xfrm>
          <a:prstGeom prst="diamond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0" y="44074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73768" y="3749040"/>
            <a:ext cx="0" cy="36576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400" y="544068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2E7D32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41832" y="5440680"/>
            <a:ext cx="28712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≥0.90 · verified · low risk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97680" y="544068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325112" y="5440680"/>
            <a:ext cx="28712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 – 0.90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80960" y="544068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C65A2E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708392" y="5440680"/>
            <a:ext cx="28712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&lt;0.70 or verification exhausted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006840" y="4892040"/>
            <a:ext cx="-6629400" cy="50292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326880" y="5120640"/>
            <a:ext cx="-3566160" cy="274320"/>
          </a:xfrm>
          <a:prstGeom prst="line">
            <a:avLst/>
          </a:prstGeom>
          <a:noFill/>
          <a:ln w="19050">
            <a:solidFill>
              <a:srgbClr val="31479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692640" y="5120640"/>
            <a:ext cx="-548640" cy="274320"/>
          </a:xfrm>
          <a:prstGeom prst="line">
            <a:avLst/>
          </a:prstGeom>
          <a:noFill/>
          <a:ln w="19050">
            <a:solidFill>
              <a:srgbClr val="C6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881360" y="54406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0908792" y="5440680"/>
            <a:ext cx="722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audit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· AI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one debate round under verification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15544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8288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0" cy="3977640"/>
          </a:xfrm>
          <a:prstGeom prst="line">
            <a:avLst/>
          </a:prstGeom>
          <a:noFill/>
          <a:ln w="12700">
            <a:solidFill>
              <a:srgbClr val="DCE3EF"/>
            </a:solidFill>
            <a:prstDash val="dash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148840" y="15544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31479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4884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2011680"/>
            <a:ext cx="0" cy="3977640"/>
          </a:xfrm>
          <a:prstGeom prst="line">
            <a:avLst/>
          </a:prstGeom>
          <a:noFill/>
          <a:ln w="12700">
            <a:solidFill>
              <a:srgbClr val="DCE3EF"/>
            </a:solidFill>
            <a:prstDash val="dash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15544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31479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11480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011680"/>
            <a:ext cx="0" cy="3977640"/>
          </a:xfrm>
          <a:prstGeom prst="line">
            <a:avLst/>
          </a:prstGeom>
          <a:noFill/>
          <a:ln w="12700">
            <a:solidFill>
              <a:srgbClr val="DCE3EF"/>
            </a:solidFill>
            <a:prstDash val="dash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80760" y="15544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31479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8076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2011680"/>
            <a:ext cx="0" cy="3977640"/>
          </a:xfrm>
          <a:prstGeom prst="line">
            <a:avLst/>
          </a:prstGeom>
          <a:noFill/>
          <a:ln w="12700">
            <a:solidFill>
              <a:srgbClr val="DCE3EF"/>
            </a:solidFill>
            <a:prstDash val="dash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46720" y="15544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31479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04672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2011680"/>
            <a:ext cx="0" cy="3977640"/>
          </a:xfrm>
          <a:prstGeom prst="line">
            <a:avLst/>
          </a:prstGeom>
          <a:noFill/>
          <a:ln w="12700">
            <a:solidFill>
              <a:srgbClr val="DCE3EF"/>
            </a:solidFill>
            <a:prstDash val="dash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012680" y="155448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31479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12680" y="1554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744200" y="2011680"/>
            <a:ext cx="0" cy="3977640"/>
          </a:xfrm>
          <a:prstGeom prst="line">
            <a:avLst/>
          </a:prstGeom>
          <a:noFill/>
          <a:ln w="12700">
            <a:solidFill>
              <a:srgbClr val="DCE3EF"/>
            </a:solidFill>
            <a:prstDash val="dash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14400" y="2514600"/>
            <a:ext cx="1965960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14400" y="22219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evidence (RAG + FX/registry APIs)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80360" y="3063240"/>
            <a:ext cx="1965960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880360" y="27706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bundle + citations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3611880"/>
            <a:ext cx="1965960" cy="0"/>
          </a:xfrm>
          <a:prstGeom prst="line">
            <a:avLst/>
          </a:prstGeom>
          <a:noFill/>
          <a:ln w="19050">
            <a:solidFill>
              <a:srgbClr val="C6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846320" y="33192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case: red flags, worst-case read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12280" y="4160520"/>
            <a:ext cx="196596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812280" y="38679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legitimate rationale + counter-evidence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778240" y="4709160"/>
            <a:ext cx="1965960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778240" y="44165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confidence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744200" y="5257800"/>
            <a:ext cx="-98298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14400" y="4965192"/>
            <a:ext cx="9829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grounded? pass / reject (retry ≤1 → escalate)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persists to debate_transcripts / evidence_artifacts / verification_claims — the courtroom record is queryable.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· AI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gateway: quality-routed, cost-metered, failure-tolerant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084832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03504" y="1645920"/>
            <a:ext cx="1975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typed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adjudication? summary? complexity?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70048" y="2148840"/>
            <a:ext cx="914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98064" y="1645920"/>
            <a:ext cx="2084832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52928" y="1645920"/>
            <a:ext cx="1975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model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reasoning-class vs lightweight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19472" y="2148840"/>
            <a:ext cx="914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47488" y="1645920"/>
            <a:ext cx="2084832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02352" y="1645920"/>
            <a:ext cx="1975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same provider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tenacity: transient errors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68896" y="2148840"/>
            <a:ext cx="914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296912" y="1645920"/>
            <a:ext cx="2084832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51776" y="1645920"/>
            <a:ext cx="1975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provider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ordered: 5 providers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18320" y="2148840"/>
            <a:ext cx="914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46336" y="1645920"/>
            <a:ext cx="2084832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0" y="1645920"/>
            <a:ext cx="1975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&amp; log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· latency · tokens per call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3611880" cy="2834640"/>
          </a:xfrm>
          <a:prstGeom prst="roundRect">
            <a:avLst>
              <a:gd name="adj" fmla="val 2258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1520" y="32918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3401202"/>
            <a:ext cx="201900" cy="2019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80160" y="3310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guardrail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49808" y="3858768"/>
            <a:ext cx="322783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request types — adjudication, verification, final report, compliance — always get the stronger reasoning model. Cost optimization never silently downgrades an audit verdict. Prompt compaction trims tokens without touching instructions.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343400" y="3108960"/>
            <a:ext cx="3611880" cy="2834640"/>
          </a:xfrm>
          <a:prstGeom prst="roundRect">
            <a:avLst>
              <a:gd name="adj" fmla="val 2258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526280" y="32918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642" y="3401202"/>
            <a:ext cx="201900" cy="2019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74920" y="3310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450" dirty="0"/>
          </a:p>
        </p:txBody>
      </p:sp>
      <p:sp>
        <p:nvSpPr>
          <p:cNvPr id="28" name="Text 24"/>
          <p:cNvSpPr/>
          <p:nvPr/>
        </p:nvSpPr>
        <p:spPr>
          <a:xfrm>
            <a:off x="4544568" y="3858768"/>
            <a:ext cx="322783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Same-provider retry for transient timeouts/network errors before any fallback (regression-tested). If all providers fail, the case lands in FAILED with an error message — never a fake CLOSED.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8138160" y="3108960"/>
            <a:ext cx="3520440" cy="2834640"/>
          </a:xfrm>
          <a:prstGeom prst="roundRect">
            <a:avLst>
              <a:gd name="adj" fmla="val 2258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8321040" y="32918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402" y="3401202"/>
            <a:ext cx="201900" cy="2019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869680" y="3310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governance</a:t>
            </a:r>
            <a:endParaRPr lang="en-US" sz="1450" dirty="0"/>
          </a:p>
        </p:txBody>
      </p:sp>
      <p:sp>
        <p:nvSpPr>
          <p:cNvPr id="33" name="Text 28"/>
          <p:cNvSpPr/>
          <p:nvPr/>
        </p:nvSpPr>
        <p:spPr>
          <a:xfrm>
            <a:off x="8339328" y="3858768"/>
            <a:ext cx="313639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logged to llm_call_logs: provider, model, tokens, latency, dollars. Analytics endpoints expose cost trends and per-provider breakdowns; suggested alert fires when spend/hour exceeds budget.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·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what the AI cannot do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11880" cy="22402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6459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1755282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close unverified cases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221284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requires verification pass or human escalation — no third path exists in the graph.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07408" y="1463040"/>
            <a:ext cx="3611880" cy="22402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16459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650" y="1755282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38928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loop or run away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08576" y="221284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bounds on debate rounds and verification retries; recursion limits; termination proven by test.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66176" y="1463040"/>
            <a:ext cx="3611880" cy="22402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49056" y="16459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418" y="1755282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97696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bypass humans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467344" y="2212848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bands are enforced in routing code; SoD prevents self-approval; destructive routes need elevated roles.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950208"/>
            <a:ext cx="3611880" cy="22402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731520" y="41330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882" y="4242450"/>
            <a:ext cx="201900" cy="201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41513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hide its tracks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49808" y="4700016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appends to a SHA-256 hash chain; every HTTP request logged; every LLM call metered; RAGAS quality scores recorded.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07408" y="3950208"/>
            <a:ext cx="3611880" cy="22402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4590288" y="41330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650" y="4242450"/>
            <a:ext cx="201900" cy="2019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38928" y="41513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degrade silently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608576" y="4700016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rejection rate is the canary metric; Prometheus counters (investigations, debate rounds, verification results) drive alerts.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266176" y="3950208"/>
            <a:ext cx="3611880" cy="22402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8449056" y="41330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418" y="4242450"/>
            <a:ext cx="201900" cy="2019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97696" y="41513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leak by default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467344" y="4700016"/>
            <a:ext cx="32278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forced on in production by startup check; explicit CORS/hosts; secrets in env stores with rotation runbook.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·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by construction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182880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hash₁ = SHA-256(evt₁)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82112" y="2395728"/>
            <a:ext cx="310896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520440" y="182880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93592" y="182880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hash₂ = SHA-256(hash₁ + evt₂)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62472" y="2395728"/>
            <a:ext cx="310896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0" y="182880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CADC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73952" y="182880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hash₃ = SHA-256(hash₂ + evt₃)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42832" y="2395728"/>
            <a:ext cx="310896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281160" y="182880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354312" y="182880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hashₙ = SHA-256(hashₙ₋₁ + evtₙ)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6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any row → every later hash breaks → verify_chain_integrity() flags the exact break point.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2960" y="41605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322" y="4269882"/>
            <a:ext cx="201900" cy="2019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71600" y="41788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not promised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41248" y="4727448"/>
            <a:ext cx="50109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test tampers a row mid-chain and asserts detection. This feature was once fake — an early version computed hashes and discarded them. Human review caught it; the fix shipped with the proof-test. That story is our engineering culture in miniature.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63640" y="397764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6446520" y="41605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882" y="4269882"/>
            <a:ext cx="201900" cy="2019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95160" y="41788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persistence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6464808" y="4727448"/>
            <a:ext cx="50109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EventStoreDB append-only streams (optional). Fallback: Postgres hash chain with per-investigation sequence numbers — integrity survives even when optional infra is down. Plus request_logs for every HTTP call.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IV ·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not taken — and why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considered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rejected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Free-form multi-agent chat (CrewAI/AutoGen style)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Unbounded loops and unauditable reasoning; audit software must prove termination and replay every step — a state machine does, chat doesn't.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'do-everything' prompt on one big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adversarial pressure, no claim verification, single-provider risk, and cost scales with the biggest model on every task.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Microservices from day 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Two-person team; a modular monolith with flag-gated infra ships faster and splits later along already-clean seams (agents, LLM, audit, knowledge).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EventStoreDB + Kafka event 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heavy for small deployments; Redis pub/sub + Postgres hash-chain fallback deliver the same guarantees at demo scale — EventStore stays as an opt-in.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vector database (Pinecone/Weaviate)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 keeps RAG in the transactional store: one backup, one security model. Revisit only when ANN scale demands it (tracked).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custom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RAG + verification beats fine-tuning for evidence-based work: cheaper, auditable, provider-portable, instantly updatable when policies change.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· LIVE DEMO · 🎬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minutes, one suspicious payment, six agents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755648" cy="1188720"/>
          </a:xfrm>
          <a:prstGeom prst="roundRect">
            <a:avLst>
              <a:gd name="adj" fmla="val 4615"/>
            </a:avLst>
          </a:prstGeom>
          <a:solidFill>
            <a:srgbClr val="16233F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03504" y="21031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Intake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sample GL CSV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40864" y="2697480"/>
            <a:ext cx="54864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432304" y="2103120"/>
            <a:ext cx="1755648" cy="1188720"/>
          </a:xfrm>
          <a:prstGeom prst="roundRect">
            <a:avLst>
              <a:gd name="adj" fmla="val 4615"/>
            </a:avLst>
          </a:prstGeom>
          <a:solidFill>
            <a:srgbClr val="16233F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487168" y="21031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Flags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catch a duplicate-ish payment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24528" y="2697480"/>
            <a:ext cx="54864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15968" y="2103120"/>
            <a:ext cx="1755648" cy="1188720"/>
          </a:xfrm>
          <a:prstGeom prst="roundRect">
            <a:avLst>
              <a:gd name="adj" fmla="val 4615"/>
            </a:avLst>
          </a:prstGeom>
          <a:solidFill>
            <a:srgbClr val="16233F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70832" y="21031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Execute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agents run live (WebSocket)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08192" y="2697480"/>
            <a:ext cx="54864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99632" y="2103120"/>
            <a:ext cx="1755648" cy="1188720"/>
          </a:xfrm>
          <a:prstGeom prst="roundRect">
            <a:avLst>
              <a:gd name="adj" fmla="val 4615"/>
            </a:avLst>
          </a:prstGeom>
          <a:solidFill>
            <a:srgbClr val="16233F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54496" y="21031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Debate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Challenger vs Defender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91856" y="2697480"/>
            <a:ext cx="54864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83296" y="2103120"/>
            <a:ext cx="1755648" cy="1188720"/>
          </a:xfrm>
          <a:prstGeom prst="roundRect">
            <a:avLst>
              <a:gd name="adj" fmla="val 4615"/>
            </a:avLst>
          </a:prstGeom>
          <a:solidFill>
            <a:srgbClr val="16233F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138160" y="21031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Review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as the human reviewer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75520" y="2697480"/>
            <a:ext cx="54864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966960" y="2103120"/>
            <a:ext cx="1755648" cy="1188720"/>
          </a:xfrm>
          <a:prstGeom prst="roundRect">
            <a:avLst>
              <a:gd name="adj" fmla="val 4615"/>
            </a:avLst>
          </a:prstGeom>
          <a:solidFill>
            <a:srgbClr val="16233F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21824" y="21031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Receipts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hash-chain entry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3931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for: live agent status per phase · citations on every evidence card · the confidence score deciding the route · the audit chain growing in real time.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108960" y="502920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31479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108960" y="50292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switching to the live product at capestone-ey.vercel.app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·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10-minute demo script (for the record)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498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43891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/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 &amp; talking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capestone-ey.vercel.app/dashboard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KPIs, risk distribution, agent health green — 'the platform is already alive'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/intake → upload sample_gl_1000.csv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pre-filter flags rows (paged preview) — 'deterministic rules do the cheap filtering; AI does the expensive thinking'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→ Execute investigation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phase progress via WebSocket: evidence → debate → verdict — narrate each agent as it lights 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/debate + /evidence tabs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Challenger vs Defender transcript; evidence cards with citations and FX/registry 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/verification + review 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grounding results, RAGAS score; approve as reviewer — SoD 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/reports + audit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report (MD/HTML/PDF) and the new hash-chain entries — 'the receipts'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75320" y="1371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AI DEBATE — real $76k case, verdict 85% ⚖️</a:t>
            </a:r>
            <a:endParaRPr lang="en-US" sz="900" dirty="0"/>
          </a:p>
        </p:txBody>
      </p:sp>
      <p:pic>
        <p:nvPicPr>
          <p:cNvPr id="7" name="Image 0" descr="shots/deb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600200"/>
            <a:ext cx="3383280" cy="1901952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8275320" y="37490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ACTIVITY LOG — 200 events, hash chain verified 🔒</a:t>
            </a:r>
            <a:endParaRPr lang="en-US" sz="900" dirty="0"/>
          </a:p>
        </p:txBody>
      </p:sp>
      <p:pic>
        <p:nvPicPr>
          <p:cNvPr id="9" name="Image 1" descr="shots/au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3977640"/>
            <a:ext cx="3383280" cy="1901952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·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risk management — nothing on stage is left to luck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114800"/>
                <a:gridCol w="36576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Prepared backup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provider slow (&gt;30 s a phase)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Narrate architecture over the live spinner — latency is authentic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Pre-executed case with full transcript ready to 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provider 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DEFAULT_LLM_PROVIDER (Groq ↔ Gemini) and re-run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Stub mode (USE_REAL_AGENTS=false) demonstrates full plumbing deterministically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Network/venue Wi-Fi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stack: UI, API, Postgres all run on the laptop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10-min video of this exact 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corruption mid-demo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Re-seed: migration + sample CSV reload in &lt;2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seeded database 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Projector/display issues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Presenter continues on slides 29–30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 of every demo beat embedded in backup slides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·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Load-tested: k6 'presentation' profile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Read-path · 5 min · ramp 10 → 25 VUs · local · stub agents — live production smoke (Railway, warm): median 257 ms, p95 329 ms, 0% errors over 80 requests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6309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223760" y="1828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6,672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223760" y="24871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· 22.2 req/s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509760" y="1828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509760" y="24871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requests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23760" y="32918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223760" y="395020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passed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509760" y="32918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9509760" y="395020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virtual users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23760" y="4572000"/>
            <a:ext cx="4480560" cy="1417320"/>
          </a:xfrm>
          <a:prstGeom prst="roundRect">
            <a:avLst>
              <a:gd name="adj" fmla="val 4516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406640" y="4754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002" y="4864242"/>
            <a:ext cx="201900" cy="2019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55280" y="47731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vs actuals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424928" y="5321808"/>
            <a:ext cx="4096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criteria: p95 &lt; 1,500 ms · error rate &lt; 3%.  Measured: p95 = 14.3 ms (105× headroom) · errors = 0%. Iteration rate 5.5/s across the scripted user journey.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·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evidence ledger — have vs. need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3566160"/>
          </a:xfrm>
          <a:prstGeom prst="roundRect">
            <a:avLst>
              <a:gd name="adj" fmla="val 179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9659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2075322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984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 hand ✓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2532888"/>
            <a:ext cx="505663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presentation-profile run (this deck's numbers) · LIVE production smoke (2026-07-08, warm service): API on Railway healthy, DB connected, auth enforced — 80 requests: median 257 ms, avg 269 ms, p95 329 ms, p99 713 ms, 0% errors; UI on Vercel p95 247 ms; first cold-path run p95 1.25 s · live Prometheus /metrics with 31 metric families · stress profile scripted to 100 VUs · comprehensive Python runner validating Prometheus counters move · per-call LLM latency/cost telemetry.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FDF3EE"/>
          </a:solidFill>
          <a:ln w="9525">
            <a:solidFill>
              <a:srgbClr val="E8C9B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46520" y="19659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882" y="2075322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9842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collect before production claims [TO COLLECT]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64808" y="2532888"/>
            <a:ext cx="501091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Cloud-environment k6 stress run at 100 VUs · soak test (≥2 h) for leaks and connection churn · CPU / memory capture during load · end-to-end latency distribution with real LLM agents per provider · Grafana dashboard pack · availability baseline over 30 days.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smoke = single external client against the running deployment — real but not load. k6 profiles and the Python runner are committed and reproducible.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·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the product can explain itself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03504" y="164592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agents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instrumented app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0" y="123444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895344" y="123444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/metrics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prod: 31 metric families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40480" y="214884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214884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traces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LangGraph/LLM call (optional)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0" y="306324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95344" y="306324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request_id-correlated, stack traces server-side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0" y="397764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895344" y="397764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audit tables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request_logs · audit_log · llm_call_logs · ragas_results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06640" y="123444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B122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461504" y="123444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[TO COLLECT]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06640" y="214884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B122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61504" y="214884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SEV1/SEV2 rule pack defined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06640" y="306324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B122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61504" y="306324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queue monitor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06640" y="397764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B122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61504" y="397764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In-product analytics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/analytics + evaluation APIs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46120" y="2148840"/>
            <a:ext cx="548640" cy="-50292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246120" y="2148840"/>
            <a:ext cx="548640" cy="384048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246120" y="2148840"/>
            <a:ext cx="548640" cy="1298448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46120" y="2148840"/>
            <a:ext cx="548640" cy="2212848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537960" y="1618488"/>
            <a:ext cx="82296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537960" y="2532888"/>
            <a:ext cx="82296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537960" y="3447288"/>
            <a:ext cx="82296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537960" y="4361688"/>
            <a:ext cx="82296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1109960" cy="1234440"/>
          </a:xfrm>
          <a:prstGeom prst="roundRect">
            <a:avLst>
              <a:gd name="adj" fmla="val 518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31520" y="52578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5367162"/>
            <a:ext cx="201900" cy="2019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280160" y="52760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watch (the canary set)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749808" y="5824728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rate &amp; p95 latency · LLM cost/hour vs budget &amp; provider fallback counts · Verifier rejection / escalation rate (quality drift) · Celery queue depth · audit-chain continuity. Health endpoints /health &amp; /health/detailed drive SEV1 paging.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·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merges tested, images immutable, deploys audited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084832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03504" y="1737360"/>
            <a:ext cx="1975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→ main</a:t>
            </a:r>
            <a:endParaRPr lang="en-US" sz="11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Flow, review required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70048" y="2308860"/>
            <a:ext cx="914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98064" y="1737360"/>
            <a:ext cx="2084832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52928" y="1737360"/>
            <a:ext cx="1975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checks</a:t>
            </a:r>
            <a:endParaRPr lang="en-US" sz="11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(E,F,W) + 95 pytest tests · Py 3.11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19472" y="2308860"/>
            <a:ext cx="914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47488" y="1737360"/>
            <a:ext cx="2084832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02352" y="1737360"/>
            <a:ext cx="1975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checks</a:t>
            </a:r>
            <a:endParaRPr lang="en-US" sz="11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typecheck · vitest · build · Node 22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68896" y="2308860"/>
            <a:ext cx="914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296912" y="1737360"/>
            <a:ext cx="2084832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51776" y="1737360"/>
            <a:ext cx="1975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1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UI → GHCR, SHA + latest tags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18320" y="2308860"/>
            <a:ext cx="914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46336" y="1737360"/>
            <a:ext cx="2084832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0" y="1737360"/>
            <a:ext cx="19751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</a:t>
            </a:r>
            <a:endParaRPr lang="en-US" sz="11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workflow_dispatch · SSH · migrate → up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611880" cy="2560320"/>
          </a:xfrm>
          <a:prstGeom prst="roundRect">
            <a:avLst>
              <a:gd name="adj" fmla="val 2500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1520" y="35661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3675522"/>
            <a:ext cx="201900" cy="2019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80160" y="3584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properties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49808" y="4133088"/>
            <a:ext cx="322783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run in parallel and gate the image build; PRs never publish images. Concurrency groups cancel superseded runs. Alembic migration job runs before app containers switch over.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343400" y="3383280"/>
            <a:ext cx="3611880" cy="2560320"/>
          </a:xfrm>
          <a:prstGeom prst="roundRect">
            <a:avLst>
              <a:gd name="adj" fmla="val 2500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526280" y="35661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642" y="3675522"/>
            <a:ext cx="201900" cy="2019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74920" y="3584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&amp; versioning</a:t>
            </a:r>
            <a:endParaRPr lang="en-US" sz="1450" dirty="0"/>
          </a:p>
        </p:txBody>
      </p:sp>
      <p:sp>
        <p:nvSpPr>
          <p:cNvPr id="28" name="Text 24"/>
          <p:cNvSpPr/>
          <p:nvPr/>
        </p:nvSpPr>
        <p:spPr>
          <a:xfrm>
            <a:off x="4544568" y="4133088"/>
            <a:ext cx="322783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tagged by immutable commit SHA — rollback is redeploying the previous tag. Runbook documents the procedure; DB migrations are Alembic-versioned.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8138160" y="3383280"/>
            <a:ext cx="3520440" cy="2560320"/>
          </a:xfrm>
          <a:prstGeom prst="roundRect">
            <a:avLst>
              <a:gd name="adj" fmla="val 2500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8321040" y="35661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402" y="3675522"/>
            <a:ext cx="201900" cy="2019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869680" y="3584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 watch</a:t>
            </a:r>
            <a:endParaRPr lang="en-US" sz="1450" dirty="0"/>
          </a:p>
        </p:txBody>
      </p:sp>
      <p:sp>
        <p:nvSpPr>
          <p:cNvPr id="33" name="Text 28"/>
          <p:cNvSpPr/>
          <p:nvPr/>
        </p:nvSpPr>
        <p:spPr>
          <a:xfrm>
            <a:off x="8339328" y="4133088"/>
            <a:ext cx="313639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endpoints verified, Prometheus 5xx/latency watched per the alert pack, LLM spend monitored — deployment isn't done until the canary set is quiet.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· ENGINEERING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build, quantified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from this repository on July 8,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32588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29,200 LOC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39496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394960" y="21945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· Jun 26 → Jul 8 (13 days)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9536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595360" y="21945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(Athitthiyan A, Aravinth Jay)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9496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394960" y="32918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· 14 test modules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9536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595360" y="32918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 modules · 14 DB tables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9496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394960" y="4389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5 LLM providers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59536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595360" y="4389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documents (audited)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394960" y="5029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34+35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5394960" y="5486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deps · UI deps (pinned)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595360" y="5029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595360" y="5486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(main, develop) · 1 merged PR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%: pytest-cov wired in CI; coverage report [TO COLLECT]. Issue tracker: work tracked via Kiro task specs, not GitHub Issues.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· ENGINEERING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days from first commit to load-tested platform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10515600" cy="0"/>
          </a:xfrm>
          <a:prstGeom prst="line">
            <a:avLst/>
          </a:prstGeom>
          <a:noFill/>
          <a:ln w="31750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655064" y="357530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737360" y="3017520"/>
            <a:ext cx="0" cy="548640"/>
          </a:xfrm>
          <a:prstGeom prst="line">
            <a:avLst/>
          </a:prstGeom>
          <a:noFill/>
          <a:ln w="12700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9659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26</a:t>
            </a:r>
            <a:endParaRPr lang="en-US" sz="11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project analysis + UI foundation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38728" y="357530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21024" y="3739896"/>
            <a:ext cx="0" cy="548640"/>
          </a:xfrm>
          <a:prstGeom prst="line">
            <a:avLst/>
          </a:prstGeom>
          <a:noFill/>
          <a:ln w="12700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06624" y="4069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29–30</a:t>
            </a:r>
            <a:endParaRPr lang="en-US" sz="11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joins UI; agent pipeline forms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22392" y="357530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504688" y="3017520"/>
            <a:ext cx="0" cy="548640"/>
          </a:xfrm>
          <a:prstGeom prst="line">
            <a:avLst/>
          </a:prstGeom>
          <a:noFill/>
          <a:ln w="12700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90288" y="19659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1–2</a:t>
            </a:r>
            <a:endParaRPr lang="en-US" sz="11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Docker, Railway config-as-code, PR #1, non-root fix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06056" y="357530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388352" y="3739896"/>
            <a:ext cx="0" cy="548640"/>
          </a:xfrm>
          <a:prstGeom prst="line">
            <a:avLst/>
          </a:prstGeom>
          <a:noFill/>
          <a:ln w="12700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73952" y="4069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3</a:t>
            </a:r>
            <a:endParaRPr lang="en-US" sz="11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optimization, lint stabilization, Neon DB schema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57530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272016" y="3017520"/>
            <a:ext cx="0" cy="548640"/>
          </a:xfrm>
          <a:prstGeom prst="line">
            <a:avLst/>
          </a:prstGeom>
          <a:noFill/>
          <a:ln w="12700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57616" y="19659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6</a:t>
            </a:r>
            <a:endParaRPr lang="en-US" sz="11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spec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20-doc audit passes; Kiro storytelling spec (2,939 lines)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073384" y="357530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155680" y="3739896"/>
            <a:ext cx="0" cy="548640"/>
          </a:xfrm>
          <a:prstGeom prst="line">
            <a:avLst/>
          </a:prstGeom>
          <a:noFill/>
          <a:ln w="12700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241280" y="4069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7–8</a:t>
            </a:r>
            <a:endParaRPr lang="en-US" sz="11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tests updated &amp; run; final polish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driver: spec-first AI generation with human review gates — the collaboration model from slide 18, applied daily.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 · LESSONS LEARNED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failures we're glad happened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documented challenges live in Docs/LESSONS_LEARNED.md — every one evidence-backed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200400"/>
                <a:gridCol w="39319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broke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lesson we keep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hash chain was fake — computed hashes, discarded them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AI-generated code looked right; nothing proved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features ship with an adversarial test (we tamper a row and must catch 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graph was dead code — compiled, never invoked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Plumbing built around stubs; invocation never wired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'Compiling a graph is not running it' — wire and test the real path early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Debate could loop forever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variable never incremented in the 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cyclic edge needs a progress variable + hard bound + termination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events never reached the browser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and API are separate processes; in-memory fan-out can't cross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Multi-process systems need a real bus — Redis pub/sub bridge, feature-flagged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API keys committed to the repo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Early-sprint carelessness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 everything, gitignore verified, secrets moved to env stores — and say so out 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VI · FORWARD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from capstone to enterprise platform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724912" cy="4480560"/>
          </a:xfrm>
          <a:prstGeom prst="roundRect">
            <a:avLst>
              <a:gd name="adj" fmla="val 268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737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v0.1.0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377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Six-agent pipeline, verified debate</a:t>
            </a:r>
            <a:endParaRPr lang="en-US" sz="10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 + HITL gates</a:t>
            </a:r>
            <a:endParaRPr lang="en-US" sz="10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5-provider LLM gateway + cost telemetry</a:t>
            </a:r>
            <a:endParaRPr lang="en-US" sz="10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load tests, 20-doc ops handbook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93008" y="1554480"/>
            <a:ext cx="2724912" cy="4480560"/>
          </a:xfrm>
          <a:prstGeom prst="roundRect">
            <a:avLst>
              <a:gd name="adj" fmla="val 2685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75888" y="1737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v0.2 (quarter)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75888" y="2240280"/>
            <a:ext cx="2377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 real client ledger (beyond load-test cases)</a:t>
            </a:r>
            <a:endParaRPr lang="en-US" sz="10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benchmark on labeled corpus</a:t>
            </a:r>
            <a:endParaRPr lang="en-US" sz="10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 suite for the core flow</a:t>
            </a:r>
            <a:endParaRPr lang="en-US" sz="10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pack · stress + soak runs · coverage report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37376" y="1554480"/>
            <a:ext cx="2724912" cy="4480560"/>
          </a:xfrm>
          <a:prstGeom prst="roundRect">
            <a:avLst>
              <a:gd name="adj" fmla="val 2685"/>
            </a:avLst>
          </a:prstGeom>
          <a:solidFill>
            <a:srgbClr val="3557A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20256" y="1737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· v1.0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0256" y="2240280"/>
            <a:ext cx="2377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connectors: SAP, NetSuite, Oracle</a:t>
            </a:r>
            <a:endParaRPr lang="en-US" sz="10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Multi-tenancy, SSO/SAML, SOC 2 track</a:t>
            </a:r>
            <a:endParaRPr lang="en-US" sz="10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certification, autoscaled workers, pgvector ANN</a:t>
            </a:r>
            <a:endParaRPr lang="en-US" sz="10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backups + quarterly DR drills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381744" y="1554480"/>
            <a:ext cx="2724912" cy="4480560"/>
          </a:xfrm>
          <a:prstGeom prst="roundRect">
            <a:avLst>
              <a:gd name="adj" fmla="val 2685"/>
            </a:avLst>
          </a:prstGeom>
          <a:solidFill>
            <a:srgbClr val="0B122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564624" y="1737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frontier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64624" y="2240280"/>
            <a:ext cx="2377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Local/self-hosted models for data sovereignty</a:t>
            </a:r>
            <a:endParaRPr lang="en-US" sz="10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mode (always-on auditor)</a:t>
            </a:r>
            <a:endParaRPr lang="en-US" sz="10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trials: AP, expenses, AML, claims</a:t>
            </a:r>
            <a:endParaRPr lang="en-US" sz="10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Adjudicator calibration &amp; bias evaluation program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VI · CREDITS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shoulders of open source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49240" cy="1444752"/>
          </a:xfrm>
          <a:prstGeom prst="roundRect">
            <a:avLst>
              <a:gd name="adj" fmla="val 4430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6002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1709562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18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167128"/>
            <a:ext cx="4965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19 · TypeScript · Tailwind CSS · Radix UI · TanStack Query &amp; Table · React Hook Form · Zod · Recharts · React Flow · Lucide icons · Vitest · pnpm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6291072" y="1417320"/>
            <a:ext cx="5349240" cy="1444752"/>
          </a:xfrm>
          <a:prstGeom prst="roundRect">
            <a:avLst>
              <a:gd name="adj" fmla="val 4430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6002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14" y="1709562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22592" y="1618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92240" y="2167128"/>
            <a:ext cx="4965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 · SQLAlchemy 2.0 · Alembic · Pydantic v2 · Celery · Flower · pytest · httpx · tenacity · python-jose · bcrypt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48640" y="3044952"/>
            <a:ext cx="5349240" cy="1444752"/>
          </a:xfrm>
          <a:prstGeom prst="roundRect">
            <a:avLst>
              <a:gd name="adj" fmla="val 4430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731520" y="322783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" y="3337194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evaluation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49808" y="3794760"/>
            <a:ext cx="4965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LangChain · RAGAS · LangSmith · Anthropic Claude · OpenAI GPT · Google Gemini · Groq (Llama) · DeepSeek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6291072" y="3044952"/>
            <a:ext cx="5349240" cy="1444752"/>
          </a:xfrm>
          <a:prstGeom prst="roundRect">
            <a:avLst>
              <a:gd name="adj" fmla="val 4430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322783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314" y="3337194"/>
            <a:ext cx="201900" cy="201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22592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infra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92240" y="3794760"/>
            <a:ext cx="4965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pgvector · Redis · EventStoreDB (esdbclient) · Docker · GitHub Actions · GHCR · k6 · Prometheus (+ instrumentator) · Railway · Neon · Vercel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548640" y="4672584"/>
            <a:ext cx="5349240" cy="1444752"/>
          </a:xfrm>
          <a:prstGeom prst="roundRect">
            <a:avLst>
              <a:gd name="adj" fmla="val 4430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731520" y="485546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882" y="4964826"/>
            <a:ext cx="201900" cy="2019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80160" y="4873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APIs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49808" y="5422392"/>
            <a:ext cx="4965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Frankfurter (FX rates) · vendor registry &amp; price-benchmark APIs (fuel, GST, travel) · sample GL datasets generated in-repo</a:t>
            </a:r>
            <a:endParaRPr lang="en-US" sz="980" dirty="0"/>
          </a:p>
        </p:txBody>
      </p:sp>
      <p:sp>
        <p:nvSpPr>
          <p:cNvPr id="30" name="Shape 23"/>
          <p:cNvSpPr/>
          <p:nvPr/>
        </p:nvSpPr>
        <p:spPr>
          <a:xfrm>
            <a:off x="6291072" y="4672584"/>
            <a:ext cx="5349240" cy="1444752"/>
          </a:xfrm>
          <a:prstGeom prst="roundRect">
            <a:avLst>
              <a:gd name="adj" fmla="val 4430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6473952" y="485546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314" y="4964826"/>
            <a:ext cx="201900" cy="2019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22592" y="4873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&amp; inspiration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492240" y="5422392"/>
            <a:ext cx="496519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spec-driven development · ACFE fraud-loss research · adversarial 'AI safety via debate' literature (Irving et al.)</a:t>
            </a:r>
            <a:endParaRPr lang="en-US" sz="980" dirty="0"/>
          </a:p>
        </p:txBody>
      </p:sp>
      <p:sp>
        <p:nvSpPr>
          <p:cNvPr id="35" name="Text 2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Licenses: dependencies are MIT/BSD/Apache-2.0-family; full pinned inventory in requirements.txt and package.json. Project license in /LICENSE.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VI · CLOSING · 🚀 CONVICTION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was a limitation. We removed 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flagged transactions get a full, evidence-cited trial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19659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703320" y="3108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arguing both sides — verified before any verdict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19659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55080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537960" y="3108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human, always, above every consequential decision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89720" y="19659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6233F"/>
          </a:solidFill>
          <a:ln w="9525">
            <a:solidFill>
              <a:srgbClr val="31479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89720" y="21945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372600" y="31089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can be quietly altered after the fact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7280" y="475488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endorse a pilot on one quarter of real ledger data, beside the existing process — and the accuracy-benchmark sprint to score it.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97280" y="56235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run it on your data. Where should we start?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188720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926080" y="5486400"/>
            <a:ext cx="73152" cy="73152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852160" y="822960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61120" y="5669280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881360" y="1097280"/>
            <a:ext cx="73152" cy="73152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338560" y="4480560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4114800"/>
            <a:ext cx="73152" cy="73152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business, architecture, AI, security, performance — all welcome. 🙏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Athitthiyan A · Aravinth Jay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Guardian v0.1.0 · repository, docs, and demo available for review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bank — 75 anticipated questions with executive and technical answers (speaker notes carry the full text)</a:t>
            </a:r>
            <a:endParaRPr lang="en-US" sz="16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· deployment topology · feature flags &amp; minimal deploy</a:t>
            </a:r>
            <a:endParaRPr lang="en-US" sz="160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checklist · glossary · evidence-to-collect ledger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Q&amp;A BANK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· Business &amp; market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questions: problem, buyer, ROI, market size, competition, moat, GTM, funding ask — full executive + technical answers in speaker notes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1709928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What problem does GL Guardian solve?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teams sample ~5% of transactions and hope; we investigate 100% of flagged ones with an AI trial plus human sign-off.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91072" y="164592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55664" y="1709928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Who is the buyer and who is the user?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Buyers: audit directors, CFOs, compliance officers. Users: analysts and reviewers who work the case queue daily.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288036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What is the ROI story?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goes from ~5% sampled to 100% of flagged items, investigation time from hours to minutes per case, with every decision evidenced for regulators.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91072" y="281635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55664" y="288036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How big is the market?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AI-in-audit is projected around $11.7B by 2033 at ~28% CAGR; anomaly-detection audit software alone is ~$1.2B in 2026 (external analyst estimates).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3232" y="4050792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Why now?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finally make grounded reasoning over unstructured evidence affordable, and regulators increasingly expect full-population assurance.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91072" y="3986784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55664" y="4050792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Who are your competitors?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MindBridge, AppZen, Caseware IDEA, DataSnipper - all strong at flagging anomalies; none run an adversarial investigation with cited evidence.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157216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3232" y="5221224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Why won't an incumbent copy the debate feature?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copy a prompt; the defensible part is the verified, auditable pipeline - claim grounding, human gates, tamper-evident logs - built as one system.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91072" y="5157216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55664" y="5221224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What is the business model?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finalized for v0.1.0; natural options are per-seat plus per-case investigation pricing. [TO DECIDE]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Q9–Q15 for this category are in the speaker notes below, each with an executive answer and a technical answer.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Q&amp;A BANK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· Architecture &amp; AI agents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questions: LangGraph choice, agent design, communication, RAG, fallback, replay, data model — full executive + technical answers in speaker notes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1709928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Walk me through the architecture in one minute.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Next.js UI talks to a FastAPI backend; six AI agents run investigations through a LangGraph state machine; Postgres stores everything including a tamper-evident audit chain.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91072" y="164592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55664" y="1709928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Why LangGraph over CrewAI/AutoGen or a bespoke orchestrator?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needed a deterministic, auditable state machine - not free-form agent chat. LangGraph gives explicit nodes, edges and checkpoints.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288036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Why six specialized agents instead of one strong prompt?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structure surfaces what a single model glosses over: one agent must attack the transaction, another must defend it, a third judges.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91072" y="281635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55664" y="288036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How do agents communicate?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 shared, versioned case state - every message is persisted, so the whole debate is replayable.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3232" y="4050792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What stops the debate looping forever?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bounds - at most two debate rounds, then the judge must rule.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91072" y="3986784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55664" y="4050792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Which LLMs do you use and why several?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providers - Anthropic, OpenAI, Google, Groq, DeepSeek - so we can balance quality, cost and availability per task.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157216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3232" y="5221224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How is the RAG layer built?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policies and reference data are embedded into a knowledge base the Evidence agent cites from.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91072" y="5157216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55664" y="5221224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What happens when an LLM provider is down?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retries, then falls back to another provider; if everything fails the case fails safely and visibly - never silently.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Q9–Q15 for this category are in the speaker notes below, each with an executive answer and a technical answer.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Q&amp;A BANK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· Security, compliance &amp; privacy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questions: auth, SoD, hash chain, secrets, GDPR/SOC 2, prompt injection, hallucination, air-gap — full executive + technical answers in speaker notes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1709928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How is the platform secured?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with bcrypt passwords, role-based access with five roles, and auth force-enabled in production.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91072" y="164592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55664" y="1709928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How do you prevent one person approving their own case?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 is a governance setting enforced by the platform, on by default.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288036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How is the audit trail tamper-evident?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event is hash-chained - like a lightweight blockchain - so any alteration is detectable.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91072" y="281635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55664" y="288036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Where do secrets live?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environment stores - never in the repository or images.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3232" y="4050792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What data does the LLM see - is customer data used for training?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case-relevant excerpts go to providers under their enterprise API terms, which exclude training on API data; a private-model option is on the roadmap.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91072" y="3986784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55664" y="4050792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Is it GDPR/DPDP-ready?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supports data minimization and full traceability; a formal privacy assessment is scheduled before enterprise pilots. [TO COLLECT]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157216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3232" y="5221224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SOC 2 / ISO 27001 status?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certified - this is v0.1.0. The control groundwork (RBAC, audit chain, request logging, runbooks, DR docs) is deliberately SOC-2-shaped.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91072" y="5157216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55664" y="5221224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How do you handle prompt injection from malicious transaction data?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data is treated as evidence to verify, never as instructions - and a human still gates risky outcomes.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Q9–Q15 for this category are in the speaker notes below, each with an executive answer and a technical answer.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Q&amp;A BANK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· Performance, scalability &amp; DevOps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questions: k6 numbers, E2E latency, scaling, stress/soak, cost control, CI/CD, rollback, observability — full executive + technical answers in speaker notes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1709928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What are the headline performance numbers?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presentation profile: p95 of 14.3ms, zero failures over 6,672 calls at 25 VUs. Live production smoke (2026-07-08): median 220ms, p95 1.25s, 0% errors.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91072" y="164592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55664" y="1709928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Those numbers look small - what is the catch?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cover the API read path on a local single node, deliberately excluding LLM latency; full agent-run latency is dominated by model calls.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288036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How long does one investigation take end-to-end?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with real models - versus hours of manual work; exact distribution per provider is being benchmarked. [TO COLLECT]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91072" y="281635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55664" y="288036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How does it scale?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scales independently: stateless API replicas, queue-backed workers, managed Postgres.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3232" y="4050792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What is the concurrency model for investigations?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run as background jobs, so a burst of cases queues rather than crashes.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91072" y="3986784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55664" y="4050792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Have you done stress and soak testing?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profile up to 100 virtual users is scripted; a long soak run is scheduled before production sign-off. [TO COLLECT]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157216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3232" y="5221224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What were the bottlenecks you found?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over-fetching and unbounded queries - fixed with limits and pagination before they hurt.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91072" y="5157216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55664" y="5221224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How do you control LLM cost?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cheap models to cheap work, meter every call, and alert on spend spikes.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Q9–Q15 for this category are in the speaker notes below, each with an executive answer and a technical answer.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Q&amp;A BANK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· Product, cost, enterprise &amp; risk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questions: real vs mocked, deployment cost, roadmap, ERP, thresholds, Kiro usage, 10x plan, compliance — full executive + technical answers in speaker notes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1709928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What is in v0.1.0 today vs mocked?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pipeline, agents, audit chain, auth and analytics are real; parts of the UI still run on mock fixtures and are being wired to live APIs.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91072" y="1645920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55664" y="1709928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What does deployment cost?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 runs on free tiers (Vercel, Render/Railway, Neon, Groq/Gemini); production cost scales mainly with LLM usage, which we meter per case.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288036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What are the top roadmap items?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connectors, accuracy benchmarking on labeled data, multi-tenancy, and enterprise SSO.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91072" y="281635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55664" y="2880360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Which ERPs will you integrate first?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and NetSuite lead the pilot conversations; CSV intake works with any GL today.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3232" y="4050792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How configurable are the risk thresholds?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- confidence bands, debate rounds, and governance toggles are runtime settings, not code.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91072" y="3986784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55664" y="4050792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What file/report outputs exist?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closed case produces a cited investigation report and a complete audit trail export.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157216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3232" y="5221224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How do reviewers interact with a case?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queue with approve, escalate, and request-more-evidence actions - each recorded immutably.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91072" y="5157216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55664" y="5221224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What is the riskiest assumption in the product?</a:t>
            </a:r>
            <a:endParaRPr lang="en-US" sz="1100" dirty="0"/>
          </a:p>
          <a:p>
            <a:pPr indent="0" marL="0">
              <a:buNone/>
            </a:pPr>
            <a:r>
              <a:rPr lang="en-US" sz="93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verified AI debate output is accurate enough to auto-clear the lowest-risk band; we hold it accountable with metrics and can set auto-clear to zero.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Q9–Q15 for this category are in the speaker notes below, each with an executive answer and a technical answer.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14 tables around one case spine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892040" y="3017520"/>
            <a:ext cx="2377440" cy="566928"/>
          </a:xfrm>
          <a:prstGeom prst="roundRect">
            <a:avLst>
              <a:gd name="adj" fmla="val 8065"/>
            </a:avLst>
          </a:prstGeom>
          <a:solidFill>
            <a:srgbClr val="0B122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892040" y="30175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7373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(5 roles)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01752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investigation_states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429768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2976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debate_transcripts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0" y="173736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0" y="17373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evidence_artifacts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237744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09360" y="17373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verification_claims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52560" y="173736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052560" y="173736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third_party_evidence_verifications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0" y="429768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0" y="42976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 (hash chain)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429768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09360" y="42976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llm_call_logs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52560" y="3017520"/>
            <a:ext cx="256032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052560" y="30175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ragas_evaluation_results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52560" y="429768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052560" y="42976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review_queue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4400" y="557784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4400" y="55778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vector_embeddings (pgvector)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0" y="557784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657600" y="55778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request_logs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557784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309360" y="55778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runtime_settings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154680" y="2011680"/>
            <a:ext cx="2240280" cy="987552"/>
          </a:xfrm>
          <a:prstGeom prst="line">
            <a:avLst/>
          </a:prstGeom>
          <a:noFill/>
          <a:ln w="1587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3154680" y="3291840"/>
            <a:ext cx="1691640" cy="0"/>
          </a:xfrm>
          <a:prstGeom prst="line">
            <a:avLst/>
          </a:prstGeom>
          <a:noFill/>
          <a:ln w="1587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3154680" y="3611880"/>
            <a:ext cx="2240280" cy="960120"/>
          </a:xfrm>
          <a:prstGeom prst="line">
            <a:avLst/>
          </a:prstGeom>
          <a:noFill/>
          <a:ln w="1587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754880" y="2331720"/>
            <a:ext cx="914400" cy="667512"/>
          </a:xfrm>
          <a:prstGeom prst="line">
            <a:avLst/>
          </a:prstGeom>
          <a:noFill/>
          <a:ln w="1587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 flipH="1">
            <a:off x="6675120" y="2331720"/>
            <a:ext cx="822960" cy="667512"/>
          </a:xfrm>
          <a:prstGeom prst="line">
            <a:avLst/>
          </a:prstGeom>
          <a:noFill/>
          <a:ln w="1587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 flipH="1">
            <a:off x="7296912" y="2331720"/>
            <a:ext cx="3035808" cy="777240"/>
          </a:xfrm>
          <a:prstGeom prst="line">
            <a:avLst/>
          </a:prstGeom>
          <a:noFill/>
          <a:ln w="1587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 flipV="1">
            <a:off x="4754880" y="3611880"/>
            <a:ext cx="914400" cy="960120"/>
          </a:xfrm>
          <a:prstGeom prst="line">
            <a:avLst/>
          </a:prstGeom>
          <a:noFill/>
          <a:ln w="1587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 flipH="1" flipV="1">
            <a:off x="6766560" y="3611880"/>
            <a:ext cx="640080" cy="640080"/>
          </a:xfrm>
          <a:prstGeom prst="line">
            <a:avLst/>
          </a:prstGeom>
          <a:noFill/>
          <a:ln w="1587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 flipH="1">
            <a:off x="7296912" y="3291840"/>
            <a:ext cx="1709928" cy="0"/>
          </a:xfrm>
          <a:prstGeom prst="line">
            <a:avLst/>
          </a:prstGeom>
          <a:noFill/>
          <a:ln w="1587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 flipH="1" flipV="1">
            <a:off x="7223760" y="3520440"/>
            <a:ext cx="2926080" cy="731520"/>
          </a:xfrm>
          <a:prstGeom prst="line">
            <a:avLst/>
          </a:prstGeom>
          <a:noFill/>
          <a:ln w="15875">
            <a:solidFill>
              <a:srgbClr val="DCE3E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Alembic-managed migrations · every table serves the case lifecycle: evidence → debate → verification → decision → audit → cost &amp; quality telemetry.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topology — three interchangeable targets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(reference)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3200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reverse proxy → UI :3000 + API :8000 · worker · beat · postgres · redis · eventstore · one-shot migrate job (alembic upgrade head). Single host or VM; the CI deploy job ships this via SSH.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7408" y="164592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31479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08576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+ Neon (LIVE)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08576" y="2560320"/>
            <a:ext cx="3200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capestoneey-production.up.railway.app — verified 2026-07-08: health OK, DB connected with 98 real cases + 200 hash-chained audit events (chain verified), auth enforced, /metrics live. UI: capestone-ey.vercel.app (p95 TTFB 247 ms). Config-as-code (railway.*.json); Neon serverless Postgres; DB schema created 2026-07-03.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66176" y="164592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67344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(certification pending)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67344" y="2560320"/>
            <a:ext cx="3200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k8s-deployment.yaml manifest exists; probes, resource requests/limits and replica counts must be certified before cluster use (tracked O1). Images pulled from GHCR by SHA.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demo stack documented end-to-end in DEPLOYMENT_GUIDE.md: Vercel (UI) + Render/Railway (API) + Neon (Postgres) + Groq/Gemini (LLM) ≈ $0.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— complexity is opt-in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908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(default)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USE_REAL_AGENTS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emit real LLM reasoning via the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stub debate — develop &amp; load-test without token 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USE_CELERY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Investigations run in worker processes (scale-out)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In-process execution — minimal single-node 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USE_REDIS_EVENTS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Cross-process realtime via Redis pub/sub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Same-process WebSocket bus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USE_EVENTSTORE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events to EventStoreDB (append-only)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hash-chain fallback (integrity preserved)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AUTH_REQUIRED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enforced on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for local dev — forced TRUE when ENV=production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METRICS_ENABLED / LANGSMITH_TRACING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/metrics · full LLM traces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on by default; tracing opt-in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Pre-demo checklist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6926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T-24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dry run of the 10-min script; record the fallback video from it; verify sample_gl_1000.csv flags the expected 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T-2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up local stack · /health and /health/detailed green · run one smoke investigation end-to-end · confirm LLM keys valid and DEFAULT_LLM_PROVIDER + fallback both respond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clean DB (alembic upgrade + reload CSV) · open tabs: dashboard, intake, investigations, debate, review, audit · stub-mode env file ready as plan B · recorded video ready as plan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notifications/Slack · display mirroring checked at venue resolution · presenter notes on second screen · timer visible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Narrate while agents run (latency is real) · if any step exceeds 45 s, switch to pre-executed case without apologizing · never refresh mid-execution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the demo case's report + audit chain and email to the panel — the receipts are the follow-up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40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debate — </a:t>
            </a:r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argue opposite interpretations of the same evidence before a third rules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91072" y="1508760"/>
            <a:ext cx="5440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 — </a:t>
            </a:r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 mapping verdict confidence to auto-clear / review / escalate bands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13432"/>
            <a:ext cx="5440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— </a:t>
            </a:r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— mandatory human decision stages in an AI workflow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91072" y="2313432"/>
            <a:ext cx="5440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 — </a:t>
            </a:r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 where each entry's SHA-256 includes the previous entry's hash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118104"/>
            <a:ext cx="5440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</a:t>
            </a:r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 building LLM workflows as explicit state machines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91072" y="3118104"/>
            <a:ext cx="5440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</a:t>
            </a:r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grounding LLM output in retrieved documents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22776"/>
            <a:ext cx="5440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— </a:t>
            </a:r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LLM-judge metrics (faithfulness, relevance) scoring generation quality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91072" y="3922776"/>
            <a:ext cx="5440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— </a:t>
            </a:r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extension storing embeddings for similarity 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727448"/>
            <a:ext cx="5440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 — </a:t>
            </a:r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 — no single person controls all stages of a decision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91072" y="4727448"/>
            <a:ext cx="5440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/ VU — </a:t>
            </a:r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Load-testing tool / simulated Virtual User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532120"/>
            <a:ext cx="5440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/ p99 — </a:t>
            </a:r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at the 95th/99th percentile of all requests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91072" y="5532120"/>
            <a:ext cx="5440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— </a:t>
            </a:r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 — the master record of an organization's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ledger — [TO COLLECT] before external presentations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deck claim traces to a repo artifact; these are the named gaps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017520"/>
                <a:gridCol w="40233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produce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benchmark (precision/recall) on labeled fraud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core product claim needs a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ground-truth scoring harness against a labeled corpus; publish confusion matrix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latency with real LLM agents, per 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'Minutes per case' should be a distribution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Batch-run sample cases with USE_REAL_AGENTS=true; aggregate from llm_call_logs + states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k6 stress (100 VU) + soak (≥2 h) + CPU/RAM capture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smoke done (p95 1.25 s, 0% errors); sustained load still unproven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k6 at the Railway deployment; capture platform metrics during 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coverage percentage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Quantifies the 95-test suite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--cov in CI; publish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 dashboard pack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 beat scrape configs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3 dashboards from existing metrics: API health, pipeline, LLM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screenshots for placeholder frames (slides 13, 29)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 ships with placeholders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case workspace, debate viewer, audit chain from the seeded demo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 session archive for backend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Strengthens the Part-5 AI-collaboration story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Export/link Kiro specs &amp; sessions beyond the storytelling spec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uptime &amp; cost-per-case actuals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 and unit-economics claims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observation window on the running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evidence — measured July 8, 2026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external client against the running production system; real measurements only, nothing estimated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8288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1938162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Vercel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9808" y="2395728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capestone-ey.vercel.app · HTTP 200 · TTFB avg 188 ms · p95 247 ms over 10 requests · 0 errors.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31520" y="33832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82" y="3492642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Railway + Neon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49808" y="3950208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capestoneey-production.up.railway.app · /health &amp; /health/detailed: 200 · database: connected · auth enforced: /api/v1/* returns 401 without JWT.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75488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49377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" y="5047122"/>
            <a:ext cx="201900" cy="201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49560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(80 live requests, warm)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49808" y="5504688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257 ms · avg 269 ms · p95 329 ms · p99 713 ms · 0% errors (first cold-path run: p95 1.25 s). Smoke-level measurement, not a load test.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16459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6446520" y="18288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882" y="1938162"/>
            <a:ext cx="201900" cy="2019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95160" y="18470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live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464808" y="2395728"/>
            <a:ext cx="5010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/metrics serving 31 metric families in production; http_requests_total counters confirm the deployed UI authenticating and reading stats, investigations, agents and analytics endpoints.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263640" y="320040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3F5F9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6446520" y="33832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5882" y="3492642"/>
            <a:ext cx="201900" cy="2019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95160" y="34015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state (from the live dashboard)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6464808" y="3950208"/>
            <a:ext cx="5010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investigations · 53 open / 45 closed · 45 auto-cleared · 53 awaiting human review · avg confidence 0.54 · 200 audit events — integrity banner: hash chain verified ✅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263640" y="475488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DF3EE"/>
          </a:solidFill>
          <a:ln w="9525">
            <a:solidFill>
              <a:srgbClr val="E8C9B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2" name="Shape 25"/>
          <p:cNvSpPr/>
          <p:nvPr/>
        </p:nvSpPr>
        <p:spPr>
          <a:xfrm>
            <a:off x="6446520" y="49377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5882" y="5047122"/>
            <a:ext cx="201900" cy="2019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95160" y="4956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6464808" y="5504688"/>
            <a:ext cx="5010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stress/soak at 100 VUs · CPU/RAM under load · E2E latency with real LLM agents · 30-day uptime baseline. Marked [TO COLLECT] — never estimated.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product, photographed live — July 8, 2026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from capestone-ey.vercel.app against the production backend; real cases, real verdicts, real hashes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031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157276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DASHBOARD — 98 cases, risk distribution, agent health</a:t>
            </a:r>
            <a:endParaRPr lang="en-US" sz="950" dirty="0"/>
          </a:p>
        </p:txBody>
      </p:sp>
      <p:pic>
        <p:nvPicPr>
          <p:cNvPr id="7" name="Image 0" descr="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828800"/>
            <a:ext cx="4206240" cy="2368296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6766560" y="157276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CASES — sortable queue: risk, confidence, status</a:t>
            </a:r>
            <a:endParaRPr lang="en-US" sz="950" dirty="0"/>
          </a:p>
        </p:txBody>
      </p:sp>
      <p:pic>
        <p:nvPicPr>
          <p:cNvPr id="9" name="Image 1" descr="shots/cas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4206240" cy="2368296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pic>
      <p:sp>
        <p:nvSpPr>
          <p:cNvPr id="10" name="Text 6"/>
          <p:cNvSpPr/>
          <p:nvPr/>
        </p:nvSpPr>
        <p:spPr>
          <a:xfrm>
            <a:off x="1143000" y="42702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AI DEBATE — real verdict: high risk, 85% confidence on a $76k payment</a:t>
            </a:r>
            <a:endParaRPr lang="en-US" sz="950" dirty="0"/>
          </a:p>
        </p:txBody>
      </p:sp>
      <p:pic>
        <p:nvPicPr>
          <p:cNvPr id="11" name="Image 2" descr="shots/deb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526280"/>
            <a:ext cx="4206240" cy="2368296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pic>
      <p:sp>
        <p:nvSpPr>
          <p:cNvPr id="12" name="Text 7"/>
          <p:cNvSpPr/>
          <p:nvPr/>
        </p:nvSpPr>
        <p:spPr>
          <a:xfrm>
            <a:off x="6766560" y="42702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ACTIVITY LOG — 200 events · 7-year retention · hash chain verified</a:t>
            </a:r>
            <a:endParaRPr lang="en-US" sz="950" dirty="0"/>
          </a:p>
        </p:txBody>
      </p:sp>
      <p:pic>
        <p:nvPicPr>
          <p:cNvPr id="13" name="Image 3" descr="shots/aud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526280"/>
            <a:ext cx="4206240" cy="2368296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 Guardian — Executive Capstone Presentation</dc:title>
  <dc:subject>PptxGenJS Presentation</dc:subject>
  <dc:creator>Athitthiyan A &amp; Aravinth Jay</dc:creator>
  <cp:lastModifiedBy>Athitthiyan A &amp; Aravinth Jay</cp:lastModifiedBy>
  <cp:revision>1</cp:revision>
  <dcterms:created xsi:type="dcterms:W3CDTF">2026-07-08T19:19:07Z</dcterms:created>
  <dcterms:modified xsi:type="dcterms:W3CDTF">2026-07-08T19:19:07Z</dcterms:modified>
</cp:coreProperties>
</file>