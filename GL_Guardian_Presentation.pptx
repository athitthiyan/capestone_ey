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media/image-13-10.svg" ContentType="image/svg+xml"/>
  <Override PartName="/ppt/media/image-13-2.svg" ContentType="image/svg+xml"/>
  <Override PartName="/ppt/media/image-13-4.svg" ContentType="image/svg+xml"/>
  <Override PartName="/ppt/media/image-13-6.svg" ContentType="image/svg+xml"/>
  <Override PartName="/ppt/media/image-13-8.svg" ContentType="image/svg+xml"/>
  <Override PartName="/ppt/media/image-2-2.svg" ContentType="image/svg+xml"/>
  <Override PartName="/ppt/media/image-2-4.svg" ContentType="image/svg+xml"/>
  <Override PartName="/ppt/media/image-2-6.svg" ContentType="image/svg+xml"/>
  <Override PartName="/ppt/media/image-5-10.svg" ContentType="image/svg+xml"/>
  <Override PartName="/ppt/media/image-5-12.svg" ContentType="image/svg+xml"/>
  <Override PartName="/ppt/media/image-5-2.svg" ContentType="image/svg+xml"/>
  <Override PartName="/ppt/media/image-5-4.svg" ContentType="image/svg+xml"/>
  <Override PartName="/ppt/media/image-5-6.svg" ContentType="image/svg+xml"/>
  <Override PartName="/ppt/media/image-5-8.svg" ContentType="image/svg+xml"/>
  <Override PartName="/ppt/media/image-6-2.svg" ContentType="image/svg+xml"/>
  <Override PartName="/ppt/media/image-6-4.svg" ContentType="image/svg+xml"/>
  <Override PartName="/ppt/media/image-6-6.svg" ContentType="image/svg+xml"/>
  <Override PartName="/ppt/media/image-9-10.svg" ContentType="image/svg+xml"/>
  <Override PartName="/ppt/media/image-9-2.svg" ContentType="image/svg+xml"/>
  <Override PartName="/ppt/media/image-9-4.svg" ContentType="image/svg+xml"/>
  <Override PartName="/ppt/media/image-9-6.svg" ContentType="image/svg+xml"/>
  <Override PartName="/ppt/media/image-9-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21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1" Type="http://schemas.openxmlformats.org/officeDocument/2006/relationships/slide" Target="slides/slide1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Before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64748B"/>
              </a:solidFill>
              <a:effectLst/>
            </c:spPr>
          </c:dPt>
          <c:dPt>
            <c:idx val="1"/>
            <c:bubble3D val="0"/>
            <c:spPr>
              <a:solidFill>
                <a:srgbClr val="E2E8F0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Examined</c:v>
                </c:pt>
                <c:pt idx="1">
                  <c:v>Unexamined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5</c:v>
                </c:pt>
                <c:pt idx="1">
                  <c:v>95</c:v>
                </c:pt>
              </c:numCache>
            </c:numRef>
          </c:val>
        </c:ser>
        <c:firstSliceAng val="0"/>
        <c:holeSize val="62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After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0B981"/>
              </a:solidFill>
              <a:effectLst/>
            </c:spPr>
          </c:dPt>
          <c:dPt>
            <c:idx val="1"/>
            <c:bubble3D val="0"/>
            <c:spPr>
              <a:solidFill>
                <a:srgbClr val="E2E8F0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Examined</c:v>
                </c:pt>
                <c:pt idx="1">
                  <c:v>Unexamined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100</c:v>
                </c:pt>
                <c:pt idx="1">
                  <c:v>0.001</c:v>
                </c:pt>
              </c:numCache>
            </c:numRef>
          </c:val>
        </c:ser>
        <c:firstSliceAng val="0"/>
        <c:holeSize val="62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SCENE 01 — COLD OPEN (0:00-0:40). Lights low, music barely there; hold 2s.
"Last year, your business processed MILLIONS of transactions. [beat] Your audit team looked at maybe FIVE PERCENT of them. [long beat] This is the story of the other NINETY-FIVE."
Hard cut to Slide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SCENE 02 — THE PROBLEM (0:40-1:20).
"Manual review is SLOW. Rules-based flags CRY WOLF. And when something real slips through, you don't find out in the audit — you find out in the HEADLINE."
Advance to Slide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SCENE 03 — THE COST (1:20-2:00). Numbers count up.
"The cost isn't just fraud. It's auditor HOURS. Restatements. Failed controls. A compliance file you CAN'T FULLY DEFEND when someone asks you to show your work." [beat]
Audience: 'Any of this sound familiar?' Then day-break wipe to Slide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SCENE 04 — THE VISION (2:00-2:40). Music lifts; particles converge into the logo.
"So we asked a simple question: what if EVERY flagged transaction got a FAIR TRIAL? [beat] Not one AI with one opinion — because opinions HALLUCINATE. A real argument. Evidence. A verdict. And a human with the final say. [beat] This is GL GUARDIAN."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SCENE 05 — MEET THE CREW (2:40-3:30). Each agent lights as named.
"It's not a black box. It's a CREW of six. A Supervisor runs the case. An Evidence agent gathers cited facts. A Challenger and a Defender argue it out. An Adjudicator weighs both sides. And a Verifier checks the work."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SCENE 06 — THE DEBATE (3:30-4:30). THE moment — slow down.
"The Challenger builds the case that this is FRAUD. The Defender builds the case that it's LEGITIMATE. They go up to two rounds. [beat] And neither one gets the last word. [long beat] The Adjudicator does."
Audience: 'Have you ever seen AI argue with itself before?'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SCENE 07 — EVIDENCE (4:30-5:15). Citation threads draw claim-&gt;source.
"Is any of this actually TRUE? Nothing here is a vibe. The Evidence agent retrieves from your policy knowledge base and live sources — FX rates, vendor registries — and the Verifier REJECTS any claim that isn't grounded. Like that one — struck from the record."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SCENE 08 — CONFIDENCE GATE (5:15-6:00). Case token routes down a lane.
"The system knows what it DOESN'T know. Above ninety percent and low risk, it AUTO-CLEARS — with a full trail. In the grey zone, it routes to a HUMAN. Below seventy, it ESCALATES. You spend your judgment WHERE JUDGMENT MATTERS."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SCENE 09 — AUDIT TRAIL (6:00-6:40). Back to dark; chain builds, tamper cracks it.
"Every decision, every source, every model call — written to an IMMUTABLE, hash-chained log. Change one record and the whole chain BREAKS. So when a regulator says 'show your work' — you EXPORT it."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SCENE 10 — LIVE PRODUCT (6:40-7:40). START THE RECORDING (or click through live).
"This is the ACTUAL product. Upload a ledger. Watch cases populate. Open one — pipeline, evidence, debate transcript, verification checklist, your review actions. Approve — and the report GENERATES ITSELF."
Tip: have a recorded fallback if the network is shaky.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SCENE 11 — BEHIND THE SCENES (7:40-8:20). Pipeline conveyor animates.
"Behind that ONE approval, a whole pipeline just ran — intake, evidence, the debate, verification, the confidence gate, report generation. Orchestrated by LANGGRAPH, on async workers, with Postgres and pgvector underneath — and Prometheus watching cost and latency the WHOLE way."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SCENE 12 — BUSINESS IMPACT (8:20-9:00). Donuts fill; stat cards count up.
"So what changes? You go from a FIVE PERCENT sample to ONE HUNDRED PERCENT investigated. Hours of review collapse into MINUTES on the cases that matter. And EVERY decision is audit-ready by default — consistent, cited, defensible, at machine scale."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SCENE 13 — ROADMAP (9:00-9:35). Milestones light toward the horizon.
"And we're just getting started. Next: an audit COPILOT you can talk to. Real-time monitoring instead of periodic runs. More models, more integrations — your ERP, your GRC stack — and a marketplace of investigation PLAYBOOKS."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SCENE 14 - CLOSE / CTA (9:35-10:00). Back to dark; particles settle; CTA pulses once. GL Guardian. Every transaction gets a fair trial - cited, argued, verified, and SIGNED. Let us run it on YOUR data. Where should we START? Hold on the logo. 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image" Target="../media/image-5-9.png"/><Relationship Id="rId10" Type="http://schemas.openxmlformats.org/officeDocument/2006/relationships/image" Target="../media/image-5-10.svg"/><Relationship Id="rId11" Type="http://schemas.openxmlformats.org/officeDocument/2006/relationships/image" Target="../media/image-5-11.png"/><Relationship Id="rId12" Type="http://schemas.openxmlformats.org/officeDocument/2006/relationships/image" Target="../media/image-5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image" Target="../media/image-9-7.png"/><Relationship Id="rId8" Type="http://schemas.openxmlformats.org/officeDocument/2006/relationships/image" Target="../media/image-9-8.svg"/><Relationship Id="rId9" Type="http://schemas.openxmlformats.org/officeDocument/2006/relationships/image" Target="../media/image-9-9.png"/><Relationship Id="rId10" Type="http://schemas.openxmlformats.org/officeDocument/2006/relationships/image" Target="../media/image-9-10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chart" Target="..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svg"/><Relationship Id="rId3" Type="http://schemas.openxmlformats.org/officeDocument/2006/relationships/image" Target="../media/image-13-3.png"/><Relationship Id="rId4" Type="http://schemas.openxmlformats.org/officeDocument/2006/relationships/image" Target="../media/image-13-4.svg"/><Relationship Id="rId5" Type="http://schemas.openxmlformats.org/officeDocument/2006/relationships/image" Target="../media/image-13-5.png"/><Relationship Id="rId6" Type="http://schemas.openxmlformats.org/officeDocument/2006/relationships/image" Target="../media/image-13-6.svg"/><Relationship Id="rId7" Type="http://schemas.openxmlformats.org/officeDocument/2006/relationships/image" Target="../media/image-13-7.png"/><Relationship Id="rId8" Type="http://schemas.openxmlformats.org/officeDocument/2006/relationships/image" Target="../media/image-13-8.svg"/><Relationship Id="rId9" Type="http://schemas.openxmlformats.org/officeDocument/2006/relationships/image" Target="../media/image-13-9.png"/><Relationship Id="rId10" Type="http://schemas.openxmlformats.org/officeDocument/2006/relationships/image" Target="../media/image-13-10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83406" y="390741"/>
            <a:ext cx="56235" cy="56235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4683152" y="425797"/>
            <a:ext cx="63448" cy="63448"/>
          </a:xfrm>
          <a:prstGeom prst="ellipse">
            <a:avLst/>
          </a:prstGeom>
          <a:solidFill>
            <a:srgbClr val="24314B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281479" y="612667"/>
            <a:ext cx="58458" cy="58458"/>
          </a:xfrm>
          <a:prstGeom prst="ellipse">
            <a:avLst/>
          </a:prstGeom>
          <a:solidFill>
            <a:srgbClr val="24314B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330347" y="1351250"/>
            <a:ext cx="43114" cy="43114"/>
          </a:xfrm>
          <a:prstGeom prst="ellipse">
            <a:avLst/>
          </a:prstGeom>
          <a:solidFill>
            <a:srgbClr val="24314B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2592511" y="638738"/>
            <a:ext cx="70460" cy="70460"/>
          </a:xfrm>
          <a:prstGeom prst="ellipse">
            <a:avLst/>
          </a:prstGeom>
          <a:solidFill>
            <a:srgbClr val="24314B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2315202" y="3949679"/>
            <a:ext cx="32010" cy="32010"/>
          </a:xfrm>
          <a:prstGeom prst="ellipse">
            <a:avLst/>
          </a:prstGeom>
          <a:solidFill>
            <a:srgbClr val="24314B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5710408" y="4198912"/>
            <a:ext cx="61741" cy="61741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1264394" y="2343632"/>
            <a:ext cx="67584" cy="67584"/>
          </a:xfrm>
          <a:prstGeom prst="ellipse">
            <a:avLst/>
          </a:prstGeom>
          <a:solidFill>
            <a:srgbClr val="24314B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7235284" y="2057942"/>
            <a:ext cx="70670" cy="70670"/>
          </a:xfrm>
          <a:prstGeom prst="ellipse">
            <a:avLst/>
          </a:prstGeom>
          <a:solidFill>
            <a:srgbClr val="24314B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2390682" y="2658659"/>
            <a:ext cx="43622" cy="43622"/>
          </a:xfrm>
          <a:prstGeom prst="ellipse">
            <a:avLst/>
          </a:prstGeom>
          <a:solidFill>
            <a:srgbClr val="24314B"/>
          </a:solidFill>
          <a:ln/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7871395" y="4192276"/>
            <a:ext cx="35727" cy="35727"/>
          </a:xfrm>
          <a:prstGeom prst="ellipse">
            <a:avLst/>
          </a:prstGeom>
          <a:solidFill>
            <a:srgbClr val="24314B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095987" y="1354754"/>
            <a:ext cx="32574" cy="32574"/>
          </a:xfrm>
          <a:prstGeom prst="ellipse">
            <a:avLst/>
          </a:prstGeom>
          <a:solidFill>
            <a:srgbClr val="24314B"/>
          </a:solidFill>
          <a:ln/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4411249" y="1736740"/>
            <a:ext cx="70731" cy="70731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7683434" y="1186600"/>
            <a:ext cx="51351" cy="51351"/>
          </a:xfrm>
          <a:prstGeom prst="ellipse">
            <a:avLst/>
          </a:prstGeom>
          <a:solidFill>
            <a:srgbClr val="24314B"/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6646560" y="382989"/>
            <a:ext cx="37534" cy="37534"/>
          </a:xfrm>
          <a:prstGeom prst="ellipse">
            <a:avLst/>
          </a:prstGeom>
          <a:solidFill>
            <a:srgbClr val="24314B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8565726" y="421634"/>
            <a:ext cx="36194" cy="36194"/>
          </a:xfrm>
          <a:prstGeom prst="ellipse">
            <a:avLst/>
          </a:prstGeom>
          <a:solidFill>
            <a:srgbClr val="24314B"/>
          </a:solidFill>
          <a:ln/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2198632" y="3708265"/>
            <a:ext cx="30490" cy="30490"/>
          </a:xfrm>
          <a:prstGeom prst="ellipse">
            <a:avLst/>
          </a:prstGeom>
          <a:solidFill>
            <a:srgbClr val="24314B"/>
          </a:solidFill>
          <a:ln/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2265075" y="3238615"/>
            <a:ext cx="70389" cy="70389"/>
          </a:xfrm>
          <a:prstGeom prst="ellipse">
            <a:avLst/>
          </a:prstGeom>
          <a:solidFill>
            <a:srgbClr val="24314B"/>
          </a:solidFill>
          <a:ln/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5707567" y="1704531"/>
            <a:ext cx="57338" cy="57338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3010529" y="3454932"/>
            <a:ext cx="70608" cy="70608"/>
          </a:xfrm>
          <a:prstGeom prst="ellipse">
            <a:avLst/>
          </a:prstGeom>
          <a:solidFill>
            <a:srgbClr val="24314B"/>
          </a:solidFill>
          <a:ln/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1757329" y="1312845"/>
            <a:ext cx="68719" cy="68719"/>
          </a:xfrm>
          <a:prstGeom prst="ellipse">
            <a:avLst/>
          </a:prstGeom>
          <a:solidFill>
            <a:srgbClr val="24314B"/>
          </a:solidFill>
          <a:ln/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7136160" y="819913"/>
            <a:ext cx="59183" cy="59183"/>
          </a:xfrm>
          <a:prstGeom prst="ellipse">
            <a:avLst/>
          </a:prstGeom>
          <a:solidFill>
            <a:srgbClr val="24314B"/>
          </a:solidFill>
          <a:ln/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3150774" y="1292205"/>
            <a:ext cx="49522" cy="49522"/>
          </a:xfrm>
          <a:prstGeom prst="ellipse">
            <a:avLst/>
          </a:prstGeom>
          <a:solidFill>
            <a:srgbClr val="24314B"/>
          </a:solidFill>
          <a:ln/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1463382" y="3626978"/>
            <a:ext cx="29304" cy="29304"/>
          </a:xfrm>
          <a:prstGeom prst="ellipse">
            <a:avLst/>
          </a:prstGeom>
          <a:solidFill>
            <a:srgbClr val="24314B"/>
          </a:solidFill>
          <a:ln/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2088269" y="4250223"/>
            <a:ext cx="51283" cy="51283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4357947" y="2974633"/>
            <a:ext cx="71833" cy="71833"/>
          </a:xfrm>
          <a:prstGeom prst="ellipse">
            <a:avLst/>
          </a:prstGeom>
          <a:solidFill>
            <a:srgbClr val="24314B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731520" y="137160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5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AUDIT INTELLIGENCE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57200" y="178308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 GUARDIAN</a:t>
            </a:r>
            <a:endParaRPr lang="en-US" sz="6000" dirty="0"/>
          </a:p>
        </p:txBody>
      </p:sp>
      <p:sp>
        <p:nvSpPr>
          <p:cNvPr id="30" name="Text 28"/>
          <p:cNvSpPr/>
          <p:nvPr/>
        </p:nvSpPr>
        <p:spPr>
          <a:xfrm>
            <a:off x="457200" y="2880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transaction gets a fair trial.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457200" y="3977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6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Multi-agent AI audit investigation</a:t>
            </a:r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pPr algn="ctr" indent="0" marL="0">
              <a:buNone/>
            </a:pPr>
            <a:r>
              <a:rPr lang="en-US" sz="1300" dirty="0">
                <a:solidFill>
                  <a:srgbClr val="E6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Challenger vs. Defender</a:t>
            </a:r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pPr algn="ctr" indent="0" marL="0">
              <a:buNone/>
            </a:pPr>
            <a:r>
              <a:rPr lang="en-US" sz="1300" dirty="0">
                <a:solidFill>
                  <a:srgbClr val="E6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Human-in-the-loop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/ Product Demo  ·  ~10 min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36576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95% you never look at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2606040" cy="2834640"/>
          </a:xfrm>
          <a:prstGeom prst="roundRect">
            <a:avLst>
              <a:gd name="adj" fmla="val 3158"/>
            </a:avLst>
          </a:prstGeom>
          <a:solidFill>
            <a:srgbClr val="141C2E"/>
          </a:solidFill>
          <a:ln w="12700">
            <a:solidFill>
              <a:srgbClr val="24314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77240" y="1691640"/>
            <a:ext cx="658368" cy="658368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48416" y="1862816"/>
            <a:ext cx="316017" cy="31601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58952" y="25146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&amp; slow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58952" y="2926080"/>
            <a:ext cx="2148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Cases reviewed by hand, one at a time. Coverage is capped by hours in the day.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3337560" y="1371600"/>
            <a:ext cx="2606040" cy="2834640"/>
          </a:xfrm>
          <a:prstGeom prst="roundRect">
            <a:avLst>
              <a:gd name="adj" fmla="val 3158"/>
            </a:avLst>
          </a:prstGeom>
          <a:solidFill>
            <a:srgbClr val="141C2E"/>
          </a:solidFill>
          <a:ln w="12700">
            <a:solidFill>
              <a:srgbClr val="24314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3611880" y="1691640"/>
            <a:ext cx="658368" cy="658368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83056" y="1862816"/>
            <a:ext cx="316017" cy="31601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93592" y="25146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False positives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3593592" y="2926080"/>
            <a:ext cx="2148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Rules-based flags cry wolf — hundreds of alarms for every real problem.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172200" y="1371600"/>
            <a:ext cx="2606040" cy="2834640"/>
          </a:xfrm>
          <a:prstGeom prst="roundRect">
            <a:avLst>
              <a:gd name="adj" fmla="val 3158"/>
            </a:avLst>
          </a:prstGeom>
          <a:solidFill>
            <a:srgbClr val="141C2E"/>
          </a:solidFill>
          <a:ln w="12700">
            <a:solidFill>
              <a:srgbClr val="24314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6446520" y="1691640"/>
            <a:ext cx="658368" cy="658368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p/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7696" y="1862816"/>
            <a:ext cx="316017" cy="31601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28232" y="25146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Missed fraud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6428232" y="2926080"/>
            <a:ext cx="2148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something real hides in the unexamined 95%, you find out in the headline.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STAKES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36576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blind spot costs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2606040" cy="2377440"/>
          </a:xfrm>
          <a:prstGeom prst="roundRect">
            <a:avLst>
              <a:gd name="adj" fmla="val 3462"/>
            </a:avLst>
          </a:prstGeom>
          <a:solidFill>
            <a:srgbClr val="141C2E"/>
          </a:solidFill>
          <a:ln w="12700">
            <a:solidFill>
              <a:srgbClr val="24314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40080" y="173736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~95%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731520" y="2788920"/>
            <a:ext cx="2148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6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transactions go unexamined under sampling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37560" y="1417320"/>
            <a:ext cx="2606040" cy="2377440"/>
          </a:xfrm>
          <a:prstGeom prst="roundRect">
            <a:avLst>
              <a:gd name="adj" fmla="val 3462"/>
            </a:avLst>
          </a:prstGeom>
          <a:solidFill>
            <a:srgbClr val="141C2E"/>
          </a:solidFill>
          <a:ln w="12700">
            <a:solidFill>
              <a:srgbClr val="24314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73736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~5%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3566160" y="2788920"/>
            <a:ext cx="2148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6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revenue lost to occupational fraud (ACFE estimate)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72200" y="1417320"/>
            <a:ext cx="2606040" cy="2377440"/>
          </a:xfrm>
          <a:prstGeom prst="roundRect">
            <a:avLst>
              <a:gd name="adj" fmla="val 3462"/>
            </a:avLst>
          </a:prstGeom>
          <a:solidFill>
            <a:srgbClr val="141C2E"/>
          </a:solidFill>
          <a:ln w="12700">
            <a:solidFill>
              <a:srgbClr val="24314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173736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200" dirty="0"/>
          </a:p>
        </p:txBody>
      </p:sp>
      <p:sp>
        <p:nvSpPr>
          <p:cNvPr id="12" name="Text 10"/>
          <p:cNvSpPr/>
          <p:nvPr/>
        </p:nvSpPr>
        <p:spPr>
          <a:xfrm>
            <a:off x="6400800" y="2788920"/>
            <a:ext cx="2148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6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missed case can trigger a restatement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" y="473659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typical audit sampling coverage; ACFE Report to the Nations (fraud ≈ 5% of revenue). Replace with pilot data when measured.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34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5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VISION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1645920"/>
            <a:ext cx="8046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51A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if every transaction got a fair trial?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188720" y="2971800"/>
            <a:ext cx="6766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one AI with one opinion — because opinions hallucinate.</a:t>
            </a:r>
            <a:endParaRPr lang="en-US" sz="15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51A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real argument. Cited evidence. A verdict. And a human with the final say.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3977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 </a:t>
            </a:r>
            <a:pPr algn="ctr"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 Guardian.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36576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1A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 the crew — six specialists, one investigation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260604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8DF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22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04088" y="1545336"/>
            <a:ext cx="530352" cy="530352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41980" y="1683228"/>
            <a:ext cx="254569" cy="25456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52704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1A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Supervisor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31520" y="207568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Orchestrates the case, routes to specialists.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337560" y="1325880"/>
            <a:ext cx="260604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8DF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22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3538728" y="1545336"/>
            <a:ext cx="530352" cy="530352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76620" y="1683228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206240" y="152704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1A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agent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3566160" y="207568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Gathers cited facts via RAG + live APIs.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172200" y="1325880"/>
            <a:ext cx="260604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8DF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22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6373368" y="1545336"/>
            <a:ext cx="530352" cy="530352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p/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11260" y="1683228"/>
            <a:ext cx="254569" cy="25456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040880" y="152704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1A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Challenger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6400800" y="207568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Argues the worst-case: this is fraud.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02920" y="2926080"/>
            <a:ext cx="260604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8DF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22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20" name="Shape 15"/>
          <p:cNvSpPr/>
          <p:nvPr/>
        </p:nvSpPr>
        <p:spPr>
          <a:xfrm>
            <a:off x="704088" y="3145536"/>
            <a:ext cx="530352" cy="530352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p/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41980" y="3283428"/>
            <a:ext cx="254569" cy="25456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371600" y="312724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1A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Defender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731520" y="367588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Argues the legitimate business rationale.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3337560" y="2926080"/>
            <a:ext cx="260604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8DF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22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25" name="Shape 19"/>
          <p:cNvSpPr/>
          <p:nvPr/>
        </p:nvSpPr>
        <p:spPr>
          <a:xfrm>
            <a:off x="3538728" y="3145536"/>
            <a:ext cx="530352" cy="530352"/>
          </a:xfrm>
          <a:prstGeom prst="ellipse">
            <a:avLst/>
          </a:prstGeom>
          <a:solidFill>
            <a:srgbClr val="0B1220"/>
          </a:solidFill>
          <a:ln/>
        </p:spPr>
        <p:txBody>
          <a:bodyPr/>
          <a:p/>
        </p:txBody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676620" y="3283428"/>
            <a:ext cx="254569" cy="254569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206240" y="312724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1A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Adjudicator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3566160" y="367588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Weighs both sides into a verdict.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6172200" y="2926080"/>
            <a:ext cx="260604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8DF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22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30" name="Shape 23"/>
          <p:cNvSpPr/>
          <p:nvPr/>
        </p:nvSpPr>
        <p:spPr>
          <a:xfrm>
            <a:off x="6373368" y="3145536"/>
            <a:ext cx="530352" cy="530352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p/>
        </p:txBody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511260" y="3283428"/>
            <a:ext cx="254569" cy="254569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040880" y="312724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1A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Verifier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6400800" y="367588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QA-gates: is every claim grounded?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SIGNATURE MOMENT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36576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1A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debate: Challenger vs. Defender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3657600" cy="2103120"/>
          </a:xfrm>
          <a:prstGeom prst="roundRect">
            <a:avLst>
              <a:gd name="adj" fmla="val 3913"/>
            </a:avLst>
          </a:prstGeom>
          <a:solidFill>
            <a:srgbClr val="FEF2F2"/>
          </a:solidFill>
          <a:ln w="12700">
            <a:solidFill>
              <a:srgbClr val="D8DF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22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31520" y="1572768"/>
            <a:ext cx="457200" cy="457200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50392" y="1691640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62763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CHALLENGER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77240" y="2148840"/>
            <a:ext cx="3200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51A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"Round-number amount, just under the approval limit."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51A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"New vendor, no prior transaction history."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51A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"Posted outside normal business hours."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983480" y="1371600"/>
            <a:ext cx="3657600" cy="2103120"/>
          </a:xfrm>
          <a:prstGeom prst="roundRect">
            <a:avLst>
              <a:gd name="adj" fmla="val 3913"/>
            </a:avLst>
          </a:prstGeom>
          <a:solidFill>
            <a:srgbClr val="F0FDF9"/>
          </a:solidFill>
          <a:ln w="12700">
            <a:solidFill>
              <a:srgbClr val="D8DF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22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5212080" y="1572768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30952" y="1691640"/>
            <a:ext cx="219456" cy="2194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760720" y="162763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DEFENDER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5257800" y="2148840"/>
            <a:ext cx="3200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51A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"Vendor verified in the registry; valid tax ID."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51A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"Amount matches an approved PO and contract."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51A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"Timestamp aligns with an overseas branch TZ."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02920" y="3657600"/>
            <a:ext cx="813816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8DF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22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685800" y="3794760"/>
            <a:ext cx="566928" cy="566928"/>
          </a:xfrm>
          <a:prstGeom prst="ellipse">
            <a:avLst/>
          </a:prstGeom>
          <a:solidFill>
            <a:srgbClr val="0B1220"/>
          </a:solidFill>
          <a:ln/>
        </p:spPr>
        <p:txBody>
          <a:bodyPr/>
          <a:p/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3201" y="3942161"/>
            <a:ext cx="272125" cy="27212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71600" y="3822192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ADJUDICATOR VERDICT   </a:t>
            </a:r>
            <a:pPr indent="0" marL="0">
              <a:buNone/>
            </a:pPr>
            <a:r>
              <a:rPr lang="en-US" sz="1300" dirty="0">
                <a:solidFill>
                  <a:srgbClr val="151A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 risk · route to human review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5989320" y="3785616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5989320" y="4023360"/>
            <a:ext cx="2377440" cy="274320"/>
          </a:xfrm>
          <a:prstGeom prst="roundRect">
            <a:avLst>
              <a:gd name="adj" fmla="val 50000"/>
            </a:avLst>
          </a:prstGeom>
          <a:solidFill>
            <a:srgbClr val="EAF1FB"/>
          </a:solidFill>
          <a:ln/>
        </p:spPr>
        <p:txBody>
          <a:bodyPr/>
          <a:p/>
        </p:txBody>
      </p:sp>
      <p:sp>
        <p:nvSpPr>
          <p:cNvPr id="20" name="Shape 15"/>
          <p:cNvSpPr/>
          <p:nvPr/>
        </p:nvSpPr>
        <p:spPr>
          <a:xfrm>
            <a:off x="5989320" y="4023360"/>
            <a:ext cx="1949501" cy="27432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21" name="Text 16"/>
          <p:cNvSpPr/>
          <p:nvPr/>
        </p:nvSpPr>
        <p:spPr>
          <a:xfrm>
            <a:off x="5989320" y="40233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0.82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GROUNDED, NOT GUESSED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36576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1A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claim, cited — verified against real sources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4160520" cy="2926080"/>
          </a:xfrm>
          <a:prstGeom prst="roundRect">
            <a:avLst>
              <a:gd name="adj" fmla="val 2813"/>
            </a:avLst>
          </a:prstGeom>
          <a:solidFill>
            <a:srgbClr val="FFFFFF"/>
          </a:solidFill>
          <a:ln w="12700">
            <a:solidFill>
              <a:srgbClr val="D8DF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22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77240" y="1554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7240" y="1965960"/>
            <a:ext cx="3657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151A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Vendor exists in master registry</a:t>
            </a:r>
            <a:endParaRPr lang="en-US" sz="12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151A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Amount within approved PO</a:t>
            </a:r>
            <a:endParaRPr lang="en-US" sz="12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151A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FX rate matches transaction date</a:t>
            </a:r>
            <a:endParaRPr lang="en-US" sz="12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50" i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 "Vendor flagged by competitor" — unsupported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937760" y="1371600"/>
            <a:ext cx="3703320" cy="2926080"/>
          </a:xfrm>
          <a:prstGeom prst="roundRect">
            <a:avLst>
              <a:gd name="adj" fmla="val 2813"/>
            </a:avLst>
          </a:prstGeom>
          <a:solidFill>
            <a:srgbClr val="FFFFFF"/>
          </a:solidFill>
          <a:ln w="12700">
            <a:solidFill>
              <a:srgbClr val="D8DF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22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212080" y="1554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212080" y="2011680"/>
            <a:ext cx="3154680" cy="566928"/>
          </a:xfrm>
          <a:prstGeom prst="roundRect">
            <a:avLst>
              <a:gd name="adj" fmla="val 12903"/>
            </a:avLst>
          </a:prstGeom>
          <a:solidFill>
            <a:srgbClr val="EAF1FB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5349240" y="206654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knowledge base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349240" y="231343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over approval matrices &amp; SOPs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212080" y="2724912"/>
            <a:ext cx="3154680" cy="566928"/>
          </a:xfrm>
          <a:prstGeom prst="roundRect">
            <a:avLst>
              <a:gd name="adj" fmla="val 12903"/>
            </a:avLst>
          </a:prstGeom>
          <a:solidFill>
            <a:srgbClr val="EAF1FB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349240" y="277977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registry API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349240" y="3026664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Master-data lookups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212080" y="3438144"/>
            <a:ext cx="3154680" cy="566928"/>
          </a:xfrm>
          <a:prstGeom prst="roundRect">
            <a:avLst>
              <a:gd name="adj" fmla="val 12903"/>
            </a:avLst>
          </a:prstGeom>
          <a:solidFill>
            <a:srgbClr val="EAF1FB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349240" y="349300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FX rate API (Frankfurter)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349240" y="3739896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rates, cache fallback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2920" y="473659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Verifier strikes any claim it can't trace to a source — no citation, no claim.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HUMAN-IN-THE-LOOP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36576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1A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confidence gate: humans judge what matters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2148840"/>
            <a:ext cx="1554480" cy="868680"/>
          </a:xfrm>
          <a:prstGeom prst="roundRect">
            <a:avLst>
              <a:gd name="adj" fmla="val 9474"/>
            </a:avLst>
          </a:prstGeom>
          <a:solidFill>
            <a:srgbClr val="0B1220"/>
          </a:solidFill>
          <a:ln w="12700">
            <a:solidFill>
              <a:srgbClr val="24314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02920" y="23317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265176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investigated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017520" y="1371600"/>
            <a:ext cx="5623560" cy="868680"/>
          </a:xfrm>
          <a:prstGeom prst="roundRect">
            <a:avLst>
              <a:gd name="adj" fmla="val 9474"/>
            </a:avLst>
          </a:prstGeom>
          <a:solidFill>
            <a:srgbClr val="F0FDF9"/>
          </a:solidFill>
          <a:ln w="12700">
            <a:solidFill>
              <a:srgbClr val="D8DF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22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2057400" y="2578608"/>
            <a:ext cx="960120" cy="-777240"/>
          </a:xfrm>
          <a:prstGeom prst="line">
            <a:avLst/>
          </a:prstGeom>
          <a:noFill/>
          <a:ln w="31750">
            <a:solidFill>
              <a:srgbClr val="10B981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2889504" y="1682496"/>
            <a:ext cx="256032" cy="256032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29000" y="149047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AUTO-CLEAR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429000" y="1828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&gt;= 0.90 · low risk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943600" y="162763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51A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Cleared automatically with a full trail.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017520" y="2331720"/>
            <a:ext cx="5623560" cy="868680"/>
          </a:xfrm>
          <a:prstGeom prst="roundRect">
            <a:avLst>
              <a:gd name="adj" fmla="val 9474"/>
            </a:avLst>
          </a:prstGeom>
          <a:solidFill>
            <a:srgbClr val="FFFBEB"/>
          </a:solidFill>
          <a:ln w="12700">
            <a:solidFill>
              <a:srgbClr val="D8DF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22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2057400" y="2578608"/>
            <a:ext cx="960120" cy="182880"/>
          </a:xfrm>
          <a:prstGeom prst="line">
            <a:avLst/>
          </a:prstGeom>
          <a:noFill/>
          <a:ln w="3175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2889504" y="2642616"/>
            <a:ext cx="256032" cy="256032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3429000" y="245059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REVIEW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429000" y="2788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0.70 - 0.90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943600" y="258775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51A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Pre-argued; queued for a reviewer.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017520" y="3291840"/>
            <a:ext cx="5623560" cy="868680"/>
          </a:xfrm>
          <a:prstGeom prst="roundRect">
            <a:avLst>
              <a:gd name="adj" fmla="val 9474"/>
            </a:avLst>
          </a:prstGeom>
          <a:solidFill>
            <a:srgbClr val="FEF2F2"/>
          </a:solidFill>
          <a:ln w="12700">
            <a:solidFill>
              <a:srgbClr val="D8DF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22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2057400" y="2578608"/>
            <a:ext cx="960120" cy="1143000"/>
          </a:xfrm>
          <a:prstGeom prst="line">
            <a:avLst/>
          </a:prstGeom>
          <a:noFill/>
          <a:ln w="31750">
            <a:solidFill>
              <a:srgbClr val="EF4444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2889504" y="3602736"/>
            <a:ext cx="256032" cy="256032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3429000" y="341071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429000" y="3749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&lt; 0.70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943600" y="354787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51A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Routed up for deeper investigation.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36576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audit trail you can't argue with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417320"/>
            <a:ext cx="5394960" cy="621792"/>
          </a:xfrm>
          <a:prstGeom prst="roundRect">
            <a:avLst>
              <a:gd name="adj" fmla="val 13235"/>
            </a:avLst>
          </a:prstGeom>
          <a:solidFill>
            <a:srgbClr val="141C2E"/>
          </a:solidFill>
          <a:ln w="12700">
            <a:solidFill>
              <a:srgbClr val="24314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960120" y="1499616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8992" y="1618488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57276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#47eb4e4b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2743200" y="159105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collected · 3 sources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1188720" y="2039112"/>
            <a:ext cx="0" cy="128016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822960" y="2167128"/>
            <a:ext cx="5394960" cy="621792"/>
          </a:xfrm>
          <a:prstGeom prst="roundRect">
            <a:avLst>
              <a:gd name="adj" fmla="val 13235"/>
            </a:avLst>
          </a:prstGeom>
          <a:solidFill>
            <a:srgbClr val="141C2E"/>
          </a:solidFill>
          <a:ln w="12700">
            <a:solidFill>
              <a:srgbClr val="24314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960120" y="2249424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p/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8992" y="2368296"/>
            <a:ext cx="219456" cy="2194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554480" y="2322576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#d6b1fc54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2743200" y="234086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Debate · 2 rounds · verdict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1188720" y="2788920"/>
            <a:ext cx="0" cy="128016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  <p:txBody>
          <a:bodyPr/>
          <a:p/>
        </p:txBody>
      </p:sp>
      <p:sp>
        <p:nvSpPr>
          <p:cNvPr id="16" name="Shape 12"/>
          <p:cNvSpPr/>
          <p:nvPr/>
        </p:nvSpPr>
        <p:spPr>
          <a:xfrm>
            <a:off x="822960" y="2916936"/>
            <a:ext cx="5394960" cy="621792"/>
          </a:xfrm>
          <a:prstGeom prst="roundRect">
            <a:avLst>
              <a:gd name="adj" fmla="val 13235"/>
            </a:avLst>
          </a:prstGeom>
          <a:solidFill>
            <a:srgbClr val="141C2E"/>
          </a:solidFill>
          <a:ln w="12700">
            <a:solidFill>
              <a:srgbClr val="24314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7" name="Shape 13"/>
          <p:cNvSpPr/>
          <p:nvPr/>
        </p:nvSpPr>
        <p:spPr>
          <a:xfrm>
            <a:off x="960120" y="2999232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p/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78992" y="3118104"/>
            <a:ext cx="219456" cy="21945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554480" y="3072384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#0d4ea0e9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2743200" y="30906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Verifier passed · confidence 0.82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1188720" y="3538728"/>
            <a:ext cx="0" cy="128016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  <p:txBody>
          <a:bodyPr/>
          <a:p/>
        </p:txBody>
      </p:sp>
      <p:sp>
        <p:nvSpPr>
          <p:cNvPr id="22" name="Shape 17"/>
          <p:cNvSpPr/>
          <p:nvPr/>
        </p:nvSpPr>
        <p:spPr>
          <a:xfrm>
            <a:off x="822960" y="3666744"/>
            <a:ext cx="5394960" cy="621792"/>
          </a:xfrm>
          <a:prstGeom prst="roundRect">
            <a:avLst>
              <a:gd name="adj" fmla="val 13235"/>
            </a:avLst>
          </a:prstGeom>
          <a:solidFill>
            <a:srgbClr val="141C2E"/>
          </a:solidFill>
          <a:ln w="12700">
            <a:solidFill>
              <a:srgbClr val="24314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23" name="Shape 18"/>
          <p:cNvSpPr/>
          <p:nvPr/>
        </p:nvSpPr>
        <p:spPr>
          <a:xfrm>
            <a:off x="960120" y="374904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p/>
        </p:txBody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78992" y="3867912"/>
            <a:ext cx="219456" cy="21945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554480" y="382219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#c1204c5d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2743200" y="38404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approved · reviewer signed</a:t>
            </a:r>
            <a:endParaRPr lang="en-US" sz="1200" dirty="0"/>
          </a:p>
        </p:txBody>
      </p:sp>
      <p:sp>
        <p:nvSpPr>
          <p:cNvPr id="27" name="Shape 21"/>
          <p:cNvSpPr/>
          <p:nvPr/>
        </p:nvSpPr>
        <p:spPr>
          <a:xfrm>
            <a:off x="6537960" y="1417320"/>
            <a:ext cx="2103120" cy="3063240"/>
          </a:xfrm>
          <a:prstGeom prst="roundRect">
            <a:avLst>
              <a:gd name="adj" fmla="val 3913"/>
            </a:avLst>
          </a:prstGeom>
          <a:solidFill>
            <a:srgbClr val="141C2E"/>
          </a:solidFill>
          <a:ln w="12700">
            <a:solidFill>
              <a:srgbClr val="24314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28" name="Shape 22"/>
          <p:cNvSpPr/>
          <p:nvPr/>
        </p:nvSpPr>
        <p:spPr>
          <a:xfrm>
            <a:off x="6766560" y="1645920"/>
            <a:ext cx="548640" cy="548640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p/>
        </p:txBody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909206" y="1788566"/>
            <a:ext cx="263347" cy="263347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6720840" y="23317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Tamper-evident</a:t>
            </a:r>
            <a:endParaRPr lang="en-US" sz="1500" dirty="0"/>
          </a:p>
        </p:txBody>
      </p:sp>
      <p:sp>
        <p:nvSpPr>
          <p:cNvPr id="31" name="Text 24"/>
          <p:cNvSpPr/>
          <p:nvPr/>
        </p:nvSpPr>
        <p:spPr>
          <a:xfrm>
            <a:off x="6720840" y="2697480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SHA-256 chain values generated by the production algorithm (audit_log). Change a single entry and every later hash breaks — visibly.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IT LIVE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36576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1A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product, end to end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5669280" cy="3063240"/>
          </a:xfrm>
          <a:prstGeom prst="roundRect">
            <a:avLst>
              <a:gd name="adj" fmla="val 2687"/>
            </a:avLst>
          </a:prstGeom>
          <a:solidFill>
            <a:srgbClr val="FFFFFF"/>
          </a:solidFill>
          <a:ln w="12700">
            <a:solidFill>
              <a:srgbClr val="D8DF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22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02920" y="1371600"/>
            <a:ext cx="5669280" cy="411480"/>
          </a:xfrm>
          <a:prstGeom prst="roundRect">
            <a:avLst>
              <a:gd name="adj" fmla="val 20000"/>
            </a:avLst>
          </a:prstGeom>
          <a:solidFill>
            <a:srgbClr val="EEF2F8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685800" y="1490472"/>
            <a:ext cx="128016" cy="128016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886968" y="1490472"/>
            <a:ext cx="128016" cy="128016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1088136" y="1490472"/>
            <a:ext cx="128016" cy="128016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828800" y="146304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gl-guardian / dashboard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280160" y="26517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NOW · UI: capestone-ey.vercel.app · API: capestoneey-production.up.railway.app (health OK · database connected — verified 2026-07-08)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32004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Intake -&gt; Dashboard -&gt; Case Workspace -&gt; Review -&gt; Report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446520" y="1371600"/>
            <a:ext cx="365760" cy="365760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949440" y="1353312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1A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a ledger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949440" y="1627632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CSV intake + rule pre-filter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446520" y="1993392"/>
            <a:ext cx="365760" cy="365760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949440" y="1975104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1A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Cases populate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949440" y="2249424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Risk-scored, agent-investigated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446520" y="2615184"/>
            <a:ext cx="365760" cy="365760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949440" y="2596896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1A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the workspace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949440" y="2871216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· evidence · debate · QA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446520" y="3236976"/>
            <a:ext cx="365760" cy="365760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949440" y="3218688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1A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&amp; approve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949440" y="3493008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human decision on what matters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446520" y="3858768"/>
            <a:ext cx="365760" cy="365760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949440" y="3840480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1A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generates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949440" y="4114800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MD / HTML / PDF + audit log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BEHIND THE SCENES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36576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click, a whole pipeline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1051560" cy="777240"/>
          </a:xfrm>
          <a:prstGeom prst="roundRect">
            <a:avLst>
              <a:gd name="adj" fmla="val 10588"/>
            </a:avLst>
          </a:prstGeom>
          <a:solidFill>
            <a:srgbClr val="141C2E"/>
          </a:solidFill>
          <a:ln w="12700">
            <a:solidFill>
              <a:srgbClr val="24314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02920" y="1554480"/>
            <a:ext cx="1051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6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Intake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554480" y="1938528"/>
            <a:ext cx="155448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709928" y="1554480"/>
            <a:ext cx="1051560" cy="777240"/>
          </a:xfrm>
          <a:prstGeom prst="roundRect">
            <a:avLst>
              <a:gd name="adj" fmla="val 10588"/>
            </a:avLst>
          </a:prstGeom>
          <a:solidFill>
            <a:srgbClr val="141C2E"/>
          </a:solidFill>
          <a:ln w="12700">
            <a:solidFill>
              <a:srgbClr val="24314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709928" y="1554480"/>
            <a:ext cx="1051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6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61488" y="1938528"/>
            <a:ext cx="155448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2916936" y="1554480"/>
            <a:ext cx="1051560" cy="777240"/>
          </a:xfrm>
          <a:prstGeom prst="roundRect">
            <a:avLst>
              <a:gd name="adj" fmla="val 10588"/>
            </a:avLst>
          </a:prstGeom>
          <a:solidFill>
            <a:srgbClr val="141C2E"/>
          </a:solidFill>
          <a:ln w="12700">
            <a:solidFill>
              <a:srgbClr val="24314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2916936" y="1554480"/>
            <a:ext cx="1051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6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Debate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968496" y="1938528"/>
            <a:ext cx="155448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4123944" y="1554480"/>
            <a:ext cx="1051560" cy="777240"/>
          </a:xfrm>
          <a:prstGeom prst="roundRect">
            <a:avLst>
              <a:gd name="adj" fmla="val 10588"/>
            </a:avLst>
          </a:prstGeom>
          <a:solidFill>
            <a:srgbClr val="141C2E"/>
          </a:solidFill>
          <a:ln w="12700">
            <a:solidFill>
              <a:srgbClr val="24314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4123944" y="1554480"/>
            <a:ext cx="1051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6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175504" y="1938528"/>
            <a:ext cx="155448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5330952" y="1554480"/>
            <a:ext cx="1051560" cy="777240"/>
          </a:xfrm>
          <a:prstGeom prst="roundRect">
            <a:avLst>
              <a:gd name="adj" fmla="val 10588"/>
            </a:avLst>
          </a:prstGeom>
          <a:solidFill>
            <a:srgbClr val="141C2E"/>
          </a:solidFill>
          <a:ln w="12700">
            <a:solidFill>
              <a:srgbClr val="24314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330952" y="1554480"/>
            <a:ext cx="1051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6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382512" y="1938528"/>
            <a:ext cx="155448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6537960" y="1554480"/>
            <a:ext cx="1051560" cy="777240"/>
          </a:xfrm>
          <a:prstGeom prst="roundRect">
            <a:avLst>
              <a:gd name="adj" fmla="val 10588"/>
            </a:avLst>
          </a:prstGeom>
          <a:solidFill>
            <a:srgbClr val="141C2E"/>
          </a:solidFill>
          <a:ln w="12700">
            <a:solidFill>
              <a:srgbClr val="24314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537960" y="1554480"/>
            <a:ext cx="1051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6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589520" y="1938528"/>
            <a:ext cx="155448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7744968" y="1554480"/>
            <a:ext cx="1051560" cy="777240"/>
          </a:xfrm>
          <a:prstGeom prst="roundRect">
            <a:avLst>
              <a:gd name="adj" fmla="val 10588"/>
            </a:avLst>
          </a:prstGeom>
          <a:solidFill>
            <a:srgbClr val="141C2E"/>
          </a:solidFill>
          <a:ln w="12700">
            <a:solidFill>
              <a:srgbClr val="24314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7744968" y="1554480"/>
            <a:ext cx="1051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6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2920" y="2788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Orchestrated underneath: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02920" y="3200400"/>
            <a:ext cx="1938528" cy="438912"/>
          </a:xfrm>
          <a:prstGeom prst="roundRect">
            <a:avLst>
              <a:gd name="adj" fmla="val 16667"/>
            </a:avLst>
          </a:prstGeom>
          <a:solidFill>
            <a:srgbClr val="141C2E"/>
          </a:solidFill>
          <a:ln w="12700">
            <a:solidFill>
              <a:srgbClr val="24314B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502920" y="3200400"/>
            <a:ext cx="19385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LangGraph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587752" y="3200400"/>
            <a:ext cx="1938528" cy="438912"/>
          </a:xfrm>
          <a:prstGeom prst="roundRect">
            <a:avLst>
              <a:gd name="adj" fmla="val 16667"/>
            </a:avLst>
          </a:prstGeom>
          <a:solidFill>
            <a:srgbClr val="141C2E"/>
          </a:solidFill>
          <a:ln w="12700">
            <a:solidFill>
              <a:srgbClr val="24314B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2587752" y="3200400"/>
            <a:ext cx="19385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FastAPI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672584" y="3200400"/>
            <a:ext cx="1938528" cy="438912"/>
          </a:xfrm>
          <a:prstGeom prst="roundRect">
            <a:avLst>
              <a:gd name="adj" fmla="val 16667"/>
            </a:avLst>
          </a:prstGeom>
          <a:solidFill>
            <a:srgbClr val="141C2E"/>
          </a:solidFill>
          <a:ln w="12700">
            <a:solidFill>
              <a:srgbClr val="24314B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4672584" y="3200400"/>
            <a:ext cx="19385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Celery + Redis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757416" y="3200400"/>
            <a:ext cx="1938528" cy="438912"/>
          </a:xfrm>
          <a:prstGeom prst="roundRect">
            <a:avLst>
              <a:gd name="adj" fmla="val 16667"/>
            </a:avLst>
          </a:prstGeom>
          <a:solidFill>
            <a:srgbClr val="141C2E"/>
          </a:solidFill>
          <a:ln w="12700">
            <a:solidFill>
              <a:srgbClr val="24314B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6757416" y="3200400"/>
            <a:ext cx="19385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Postgres + pgvector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02920" y="3749040"/>
            <a:ext cx="1938528" cy="438912"/>
          </a:xfrm>
          <a:prstGeom prst="roundRect">
            <a:avLst>
              <a:gd name="adj" fmla="val 16667"/>
            </a:avLst>
          </a:prstGeom>
          <a:solidFill>
            <a:srgbClr val="141C2E"/>
          </a:solidFill>
          <a:ln w="12700">
            <a:solidFill>
              <a:srgbClr val="24314B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502920" y="3749040"/>
            <a:ext cx="19385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EventStoreDB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587752" y="3749040"/>
            <a:ext cx="1938528" cy="438912"/>
          </a:xfrm>
          <a:prstGeom prst="roundRect">
            <a:avLst>
              <a:gd name="adj" fmla="val 16667"/>
            </a:avLst>
          </a:prstGeom>
          <a:solidFill>
            <a:srgbClr val="141C2E"/>
          </a:solidFill>
          <a:ln w="12700">
            <a:solidFill>
              <a:srgbClr val="24314B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2587752" y="3749040"/>
            <a:ext cx="19385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Prometheus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672584" y="3749040"/>
            <a:ext cx="1938528" cy="438912"/>
          </a:xfrm>
          <a:prstGeom prst="roundRect">
            <a:avLst>
              <a:gd name="adj" fmla="val 16667"/>
            </a:avLst>
          </a:prstGeom>
          <a:solidFill>
            <a:srgbClr val="141C2E"/>
          </a:solidFill>
          <a:ln w="12700">
            <a:solidFill>
              <a:srgbClr val="24314B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4672584" y="3749040"/>
            <a:ext cx="19385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Multi-LLM gateway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PAYOFF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36576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1A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5% sampled to 100% investigated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85800" y="1417320"/>
          <a:ext cx="201168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685800" y="21488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548640" y="34290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· sampled</a:t>
            </a:r>
            <a:endParaRPr lang="en-US" sz="1100" dirty="0"/>
          </a:p>
        </p:txBody>
      </p:sp>
      <p:graphicFrame>
        <p:nvGraphicFramePr>
          <p:cNvPr id="7" name="Chart 1" descr=""/>
          <p:cNvGraphicFramePr/>
          <p:nvPr/>
        </p:nvGraphicFramePr>
        <p:xfrm>
          <a:off x="3063240" y="1417320"/>
          <a:ext cx="201168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 4"/>
          <p:cNvSpPr/>
          <p:nvPr/>
        </p:nvSpPr>
        <p:spPr>
          <a:xfrm>
            <a:off x="3063240" y="21488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2600" dirty="0"/>
          </a:p>
        </p:txBody>
      </p:sp>
      <p:sp>
        <p:nvSpPr>
          <p:cNvPr id="9" name="Text 5"/>
          <p:cNvSpPr/>
          <p:nvPr/>
        </p:nvSpPr>
        <p:spPr>
          <a:xfrm>
            <a:off x="2926080" y="34290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· investigated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532120" y="1417320"/>
            <a:ext cx="3108960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8DF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22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11" name="Text 7"/>
          <p:cNvSpPr/>
          <p:nvPr/>
        </p:nvSpPr>
        <p:spPr>
          <a:xfrm>
            <a:off x="5715000" y="149047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coverage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5715000" y="175564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flagged case, not a sample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5532120" y="2176272"/>
            <a:ext cx="3108960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8DF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22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14" name="Text 10"/>
          <p:cNvSpPr/>
          <p:nvPr/>
        </p:nvSpPr>
        <p:spPr>
          <a:xfrm>
            <a:off x="5715000" y="224942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Minutes, not hours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5715000" y="251460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the cases that need a human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5532120" y="2935224"/>
            <a:ext cx="3108960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8DF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22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17" name="Text 13"/>
          <p:cNvSpPr/>
          <p:nvPr/>
        </p:nvSpPr>
        <p:spPr>
          <a:xfrm>
            <a:off x="5715000" y="300837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Audit-ready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5715000" y="327355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cited &amp; signed by default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5532120" y="3694176"/>
            <a:ext cx="3108960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8DF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22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20" name="Text 16"/>
          <p:cNvSpPr/>
          <p:nvPr/>
        </p:nvSpPr>
        <p:spPr>
          <a:xfrm>
            <a:off x="5715000" y="376732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Consistent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5715000" y="4032504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rigor at machine scale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NEXT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36576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1A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roadmap: from investigator to copilot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914400" y="2340864"/>
            <a:ext cx="7315200" cy="0"/>
          </a:xfrm>
          <a:prstGeom prst="line">
            <a:avLst/>
          </a:prstGeom>
          <a:noFill/>
          <a:ln w="25400">
            <a:solidFill>
              <a:srgbClr val="D8DFEC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005840" y="2148840"/>
            <a:ext cx="384048" cy="384048"/>
          </a:xfrm>
          <a:prstGeom prst="ellipse">
            <a:avLst/>
          </a:prstGeom>
          <a:solidFill>
            <a:srgbClr val="F0F5FF"/>
          </a:solidFill>
          <a:ln w="19050">
            <a:solidFill>
              <a:srgbClr val="2563EB"/>
            </a:solidFill>
            <a:prstDash val="solid"/>
          </a:ln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6424" y="2249424"/>
            <a:ext cx="182880" cy="1828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26974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1A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copilot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11480" y="32004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questions in plain language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2706624" y="2148840"/>
            <a:ext cx="384048" cy="384048"/>
          </a:xfrm>
          <a:prstGeom prst="ellipse">
            <a:avLst/>
          </a:prstGeom>
          <a:solidFill>
            <a:srgbClr val="F0F5FF"/>
          </a:solidFill>
          <a:ln w="19050">
            <a:solidFill>
              <a:srgbClr val="2563EB"/>
            </a:solidFill>
            <a:prstDash val="solid"/>
          </a:ln>
        </p:spPr>
        <p:txBody>
          <a:bodyPr/>
          <a:p/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07208" y="2249424"/>
            <a:ext cx="182880" cy="1828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157984" y="26974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1A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monitoring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2112264" y="32004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Continuous, not periodic runs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4407408" y="2148840"/>
            <a:ext cx="384048" cy="384048"/>
          </a:xfrm>
          <a:prstGeom prst="ellipse">
            <a:avLst/>
          </a:prstGeom>
          <a:solidFill>
            <a:srgbClr val="F0F5FF"/>
          </a:solidFill>
          <a:ln w="19050">
            <a:solidFill>
              <a:srgbClr val="2563EB"/>
            </a:solidFill>
            <a:prstDash val="solid"/>
          </a:ln>
        </p:spPr>
        <p:txBody>
          <a:bodyPr/>
          <a:p/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07992" y="2249424"/>
            <a:ext cx="182880" cy="1828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858768" y="26974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1A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Multi-model AI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3813048" y="32004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model per task, with fallback</a:t>
            </a:r>
            <a:endParaRPr lang="en-US" sz="950" dirty="0"/>
          </a:p>
        </p:txBody>
      </p:sp>
      <p:sp>
        <p:nvSpPr>
          <p:cNvPr id="17" name="Shape 12"/>
          <p:cNvSpPr/>
          <p:nvPr/>
        </p:nvSpPr>
        <p:spPr>
          <a:xfrm>
            <a:off x="6108192" y="2148840"/>
            <a:ext cx="384048" cy="384048"/>
          </a:xfrm>
          <a:prstGeom prst="ellipse">
            <a:avLst/>
          </a:prstGeom>
          <a:solidFill>
            <a:srgbClr val="F0F5FF"/>
          </a:solidFill>
          <a:ln w="19050">
            <a:solidFill>
              <a:srgbClr val="2563EB"/>
            </a:solidFill>
            <a:prstDash val="solid"/>
          </a:ln>
        </p:spPr>
        <p:txBody>
          <a:bodyPr/>
          <a:p/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08776" y="2249424"/>
            <a:ext cx="182880" cy="18288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559552" y="26974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1A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integrations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5513832" y="32004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ERP &amp; GRC connectors</a:t>
            </a:r>
            <a:endParaRPr lang="en-US" sz="950" dirty="0"/>
          </a:p>
        </p:txBody>
      </p:sp>
      <p:sp>
        <p:nvSpPr>
          <p:cNvPr id="21" name="Shape 15"/>
          <p:cNvSpPr/>
          <p:nvPr/>
        </p:nvSpPr>
        <p:spPr>
          <a:xfrm>
            <a:off x="7808976" y="2148840"/>
            <a:ext cx="384048" cy="384048"/>
          </a:xfrm>
          <a:prstGeom prst="ellipse">
            <a:avLst/>
          </a:prstGeom>
          <a:solidFill>
            <a:srgbClr val="F0F5FF"/>
          </a:solidFill>
          <a:ln w="19050">
            <a:solidFill>
              <a:srgbClr val="2563EB"/>
            </a:solidFill>
            <a:prstDash val="solid"/>
          </a:ln>
        </p:spPr>
        <p:txBody>
          <a:bodyPr/>
          <a:p/>
        </p:txBody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909560" y="2249424"/>
            <a:ext cx="182880" cy="18288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260336" y="26974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1A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Playbook marketplace</a:t>
            </a:r>
            <a:endParaRPr lang="en-US" sz="1200" dirty="0"/>
          </a:p>
        </p:txBody>
      </p:sp>
      <p:sp>
        <p:nvSpPr>
          <p:cNvPr id="24" name="Text 17"/>
          <p:cNvSpPr/>
          <p:nvPr/>
        </p:nvSpPr>
        <p:spPr>
          <a:xfrm>
            <a:off x="7214616" y="32004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Shareable investigation templates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36" y="4312670"/>
            <a:ext cx="67866" cy="67866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4324565" y="1359912"/>
            <a:ext cx="42383" cy="42383"/>
          </a:xfrm>
          <a:prstGeom prst="ellipse">
            <a:avLst/>
          </a:prstGeom>
          <a:solidFill>
            <a:srgbClr val="24314B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808094" y="3098651"/>
            <a:ext cx="27922" cy="27922"/>
          </a:xfrm>
          <a:prstGeom prst="ellipse">
            <a:avLst/>
          </a:prstGeom>
          <a:solidFill>
            <a:srgbClr val="24314B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6235493" y="2040198"/>
            <a:ext cx="56681" cy="56681"/>
          </a:xfrm>
          <a:prstGeom prst="ellipse">
            <a:avLst/>
          </a:prstGeom>
          <a:solidFill>
            <a:srgbClr val="24314B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002950" y="2695257"/>
            <a:ext cx="57706" cy="57706"/>
          </a:xfrm>
          <a:prstGeom prst="ellipse">
            <a:avLst/>
          </a:prstGeom>
          <a:solidFill>
            <a:srgbClr val="24314B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352169" y="2351800"/>
            <a:ext cx="42360" cy="4236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666269" y="3252332"/>
            <a:ext cx="38853" cy="38853"/>
          </a:xfrm>
          <a:prstGeom prst="ellipse">
            <a:avLst/>
          </a:prstGeom>
          <a:solidFill>
            <a:srgbClr val="24314B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3693785" y="4383973"/>
            <a:ext cx="55630" cy="55630"/>
          </a:xfrm>
          <a:prstGeom prst="ellipse">
            <a:avLst/>
          </a:prstGeom>
          <a:solidFill>
            <a:srgbClr val="24314B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7053511" y="4014564"/>
            <a:ext cx="63066" cy="63066"/>
          </a:xfrm>
          <a:prstGeom prst="ellipse">
            <a:avLst/>
          </a:prstGeom>
          <a:solidFill>
            <a:srgbClr val="24314B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1838395" y="4603528"/>
            <a:ext cx="64670" cy="64670"/>
          </a:xfrm>
          <a:prstGeom prst="ellipse">
            <a:avLst/>
          </a:prstGeom>
          <a:solidFill>
            <a:srgbClr val="24314B"/>
          </a:solidFill>
          <a:ln/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6345490" y="2610082"/>
            <a:ext cx="41274" cy="4127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8738486" y="1401946"/>
            <a:ext cx="57241" cy="57241"/>
          </a:xfrm>
          <a:prstGeom prst="ellipse">
            <a:avLst/>
          </a:prstGeom>
          <a:solidFill>
            <a:srgbClr val="24314B"/>
          </a:solidFill>
          <a:ln/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2143757" y="2190125"/>
            <a:ext cx="44210" cy="44210"/>
          </a:xfrm>
          <a:prstGeom prst="ellipse">
            <a:avLst/>
          </a:prstGeom>
          <a:solidFill>
            <a:srgbClr val="24314B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3878542" y="375155"/>
            <a:ext cx="63673" cy="63673"/>
          </a:xfrm>
          <a:prstGeom prst="ellipse">
            <a:avLst/>
          </a:prstGeom>
          <a:solidFill>
            <a:srgbClr val="24314B"/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2577318" y="1875618"/>
            <a:ext cx="45235" cy="45235"/>
          </a:xfrm>
          <a:prstGeom prst="ellipse">
            <a:avLst/>
          </a:prstGeom>
          <a:solidFill>
            <a:srgbClr val="24314B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6986224" y="4458199"/>
            <a:ext cx="59196" cy="59196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8563124" y="2698676"/>
            <a:ext cx="64271" cy="64271"/>
          </a:xfrm>
          <a:prstGeom prst="ellipse">
            <a:avLst/>
          </a:prstGeom>
          <a:solidFill>
            <a:srgbClr val="24314B"/>
          </a:solidFill>
          <a:ln/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4915391" y="1303343"/>
            <a:ext cx="50998" cy="50998"/>
          </a:xfrm>
          <a:prstGeom prst="ellipse">
            <a:avLst/>
          </a:prstGeom>
          <a:solidFill>
            <a:srgbClr val="24314B"/>
          </a:solidFill>
          <a:ln/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8731949" y="2232912"/>
            <a:ext cx="58657" cy="58657"/>
          </a:xfrm>
          <a:prstGeom prst="ellipse">
            <a:avLst/>
          </a:prstGeom>
          <a:solidFill>
            <a:srgbClr val="24314B"/>
          </a:solidFill>
          <a:ln/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880151" y="3064609"/>
            <a:ext cx="34205" cy="34205"/>
          </a:xfrm>
          <a:prstGeom prst="ellipse">
            <a:avLst/>
          </a:prstGeom>
          <a:solidFill>
            <a:srgbClr val="24314B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457200" y="1371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 GUARDIAN</a:t>
            </a:r>
            <a:endParaRPr lang="en-US" sz="4400" dirty="0"/>
          </a:p>
        </p:txBody>
      </p:sp>
      <p:sp>
        <p:nvSpPr>
          <p:cNvPr id="23" name="Text 21"/>
          <p:cNvSpPr/>
          <p:nvPr/>
        </p:nvSpPr>
        <p:spPr>
          <a:xfrm>
            <a:off x="914400" y="22860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E6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transaction gets a fair trial — cited, argued, verified, and signed.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200400" y="3063240"/>
            <a:ext cx="2743200" cy="640080"/>
          </a:xfrm>
          <a:prstGeom prst="roundRect">
            <a:avLst>
              <a:gd name="adj" fmla="val 14286"/>
            </a:avLst>
          </a:prstGeom>
          <a:solidFill>
            <a:srgbClr val="2563EB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3200400" y="30632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 a live investigation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57200" y="3977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run it on your data.  </a:t>
            </a:r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should we start?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athitthiyananofficial@gmail.com   ·   gl-guardian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 i="0">
                <a:solidFill>
                  <a:srgbClr val="CADCFC"/>
                </a:solidFill>
                <a:latin typeface="Calibri"/>
              </a:rPr>
              <a:t>APPENDIX · LIVE DEPLOYMENT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48640"/>
            <a:ext cx="8321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 i="0">
                <a:solidFill>
                  <a:srgbClr val="FFFFFF"/>
                </a:solidFill>
                <a:latin typeface="Calibri"/>
              </a:rPr>
              <a:t>Measured from the running system — July 8,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79552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 i="0">
                <a:solidFill>
                  <a:srgbClr val="CADCFC"/>
                </a:solidFill>
                <a:latin typeface="Calibri"/>
              </a:rPr>
              <a:t>•  UI capestone-ey.vercel.app — HTTP 200 · avg 188 ms · p95 247 ms (10 requests, 0 errors)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64792"/>
            <a:ext cx="79552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 i="0">
                <a:solidFill>
                  <a:srgbClr val="CADCFC"/>
                </a:solidFill>
                <a:latin typeface="Calibri"/>
              </a:rPr>
              <a:t>•  API capestoneey-production.up.railway.app — health OK · database connected · auth enforced (401 without JWT)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95144"/>
            <a:ext cx="79552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 i="0">
                <a:solidFill>
                  <a:srgbClr val="CADCFC"/>
                </a:solidFill>
                <a:latin typeface="Calibri"/>
              </a:rPr>
              <a:t>•  API latency, 80 live requests (single client): median 220 ms · avg 334 ms · p95 1.25 s · 0% errors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25496"/>
            <a:ext cx="79552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 i="0">
                <a:solidFill>
                  <a:srgbClr val="CADCFC"/>
                </a:solidFill>
                <a:latin typeface="Calibri"/>
              </a:rPr>
              <a:t>•  Prometheus /metrics live: 31 metric families; counters show the deployed UI reading stats, cases &amp; analytics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355848"/>
            <a:ext cx="79552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 i="0">
                <a:solidFill>
                  <a:srgbClr val="CADCFC"/>
                </a:solidFill>
                <a:latin typeface="Calibri"/>
              </a:rPr>
              <a:t>•  Local k6 (25 VUs, read path, stub agents): p95 14.3 ms · p99 23 ms · 6,672 requests · 0% failed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886200"/>
            <a:ext cx="79552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 i="0">
                <a:solidFill>
                  <a:srgbClr val="8A9BB5"/>
                </a:solidFill>
                <a:latin typeface="Calibri"/>
              </a:rPr>
              <a:t>•  Not measured yet: cloud stress/soak, CPU/RAM under load, E2E latency with real LLM agents, uptime baseline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4526280"/>
            <a:ext cx="8321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 i="1">
                <a:solidFill>
                  <a:srgbClr val="8A9BB5"/>
                </a:solidFill>
                <a:latin typeface="Calibri"/>
              </a:rPr>
              <a:t>All figures are real measurements — nothing estimated. UI screenshots: capture from the live app before presenting (not captured in this environment).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 Guardian — Product Demo</dc:title>
  <dc:subject>PptxGenJS Presentation</dc:subject>
  <dc:creator>GL Guardian</dc:creator>
  <cp:lastModifiedBy>GL Guardian</cp:lastModifiedBy>
  <cp:revision>1</cp:revision>
  <dcterms:created xsi:type="dcterms:W3CDTF">2026-07-06T05:20:07Z</dcterms:created>
  <dcterms:modified xsi:type="dcterms:W3CDTF">2026-07-06T05:20:07Z</dcterms:modified>
</cp:coreProperties>
</file>