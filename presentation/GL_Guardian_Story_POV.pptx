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.svg" ContentType="image/svg+xml"/>
  <Override PartName="/ppt/media/image10.svg" ContentType="image/svg+xml"/>
  <Override PartName="/ppt/media/image11.svg" ContentType="image/svg+xml"/>
  <Override PartName="/ppt/media/image12.svg" ContentType="image/svg+xml"/>
  <Override PartName="/ppt/media/image2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media/image8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228" y="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67398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SCENE 1 (0:00-0:22) - MAYA, composed. "My name is Maya. I'm the one who checks the money -- every payment, every vendor, every number your company swears is clean. [beat] Nobody thinks about me... until something goes wrong."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SCENE 2 (0:22-0:47) - worried. "Here's the truth I don't say out loud. Every quarter, a million transactions land on my desk. I can open maybe five in a hundred. The rest -- I sample, I guess, and I hope. Hope is not a control. But it's what I've got."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SCENE 3 (0:47-1:10) - fear, lowest point. "It's not the ones I check that scare me. It's the ninety-five I didn't. If fraud is hiding in there, I don't find it in the audit -- I find out when it's a headline, a restatement, my signature on the page. That's the weight I carry home."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SCENE 4 (1:10-1:30) - surprised. "Then they showed me GL Guardian. I'll be honest -- I rolled my eyes. Another tool promising magic. [beat] But this one didn't flag and walk away. It investigated."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SCENE 5 (1:30-1:57) - hopeful. "For every case, it builds the argument that it's fraud -- and the argument that it's fine. It brings the evidence, cited, both ways. Then it tells me how sure it is. For the first time, I'm not staring at a red flag wondering why. I can see the whole story."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SCENE 6 (1:57-2:22) - happy, the pain eased. "Now? The clear ones clear themselves. The tricky ones reach me already argued -- I review in minutes, not lost weekends. Every case examined. Every decision signed and traceable."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SCENE 7 (2:22-2:40) - calm, at peace. "So when a regulator asks me to show my work -- I can. All of it. [beat] I still check the money. I just don't carry it home anymore. That's what GL Guardian gave me. Let me show you what it can give your team."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sv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sv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sv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sv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svg"/><Relationship Id="rId4" Type="http://schemas.openxmlformats.org/officeDocument/2006/relationships/image" Target="../media/image6.svg"/><Relationship Id="rId5" Type="http://schemas.openxmlformats.org/officeDocument/2006/relationships/image" Target="../media/image7.sv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svg"/><Relationship Id="rId4" Type="http://schemas.openxmlformats.org/officeDocument/2006/relationships/image" Target="../media/image9.svg"/><Relationship Id="rId5" Type="http://schemas.openxmlformats.org/officeDocument/2006/relationships/image" Target="../media/image10.svg"/><Relationship Id="rId6" Type="http://schemas.openxmlformats.org/officeDocument/2006/relationships/image" Target="../media/image11.sv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491366" y="2838250"/>
            <a:ext cx="32712" cy="32712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2418213" y="2300676"/>
            <a:ext cx="50584" cy="50584"/>
          </a:xfrm>
          <a:prstGeom prst="ellipse">
            <a:avLst/>
          </a:prstGeom>
          <a:solidFill>
            <a:srgbClr val="24314B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1026627" y="4292518"/>
            <a:ext cx="54380" cy="54380"/>
          </a:xfrm>
          <a:prstGeom prst="ellipse">
            <a:avLst/>
          </a:prstGeom>
          <a:solidFill>
            <a:srgbClr val="24314B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3821808" y="1574776"/>
            <a:ext cx="63151" cy="63151"/>
          </a:xfrm>
          <a:prstGeom prst="ellipse">
            <a:avLst/>
          </a:prstGeom>
          <a:solidFill>
            <a:srgbClr val="24314B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896475" y="624452"/>
            <a:ext cx="50226" cy="50226"/>
          </a:xfrm>
          <a:prstGeom prst="ellipse">
            <a:avLst/>
          </a:prstGeom>
          <a:solidFill>
            <a:srgbClr val="24314B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2343349" y="3346544"/>
            <a:ext cx="34655" cy="34655"/>
          </a:xfrm>
          <a:prstGeom prst="ellipse">
            <a:avLst/>
          </a:prstGeom>
          <a:solidFill>
            <a:srgbClr val="24314B"/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5080110" y="2502053"/>
            <a:ext cx="35488" cy="35488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786997" y="4567978"/>
            <a:ext cx="71775" cy="71775"/>
          </a:xfrm>
          <a:prstGeom prst="ellipse">
            <a:avLst/>
          </a:prstGeom>
          <a:solidFill>
            <a:srgbClr val="24314B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1381691" y="2305320"/>
            <a:ext cx="71127" cy="71127"/>
          </a:xfrm>
          <a:prstGeom prst="ellipse">
            <a:avLst/>
          </a:prstGeom>
          <a:solidFill>
            <a:srgbClr val="24314B"/>
          </a:solidFill>
          <a:ln/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1956912" y="2191079"/>
            <a:ext cx="52592" cy="52592"/>
          </a:xfrm>
          <a:prstGeom prst="ellipse">
            <a:avLst/>
          </a:prstGeom>
          <a:solidFill>
            <a:srgbClr val="24314B"/>
          </a:solidFill>
          <a:ln/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6017859" y="1558255"/>
            <a:ext cx="35222" cy="35222"/>
          </a:xfrm>
          <a:prstGeom prst="ellipse">
            <a:avLst/>
          </a:prstGeom>
          <a:solidFill>
            <a:srgbClr val="24314B"/>
          </a:solidFill>
          <a:ln/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8657253" y="2311847"/>
            <a:ext cx="38066" cy="38066"/>
          </a:xfrm>
          <a:prstGeom prst="ellipse">
            <a:avLst/>
          </a:prstGeom>
          <a:solidFill>
            <a:srgbClr val="24314B"/>
          </a:solidFill>
          <a:ln/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4967814" y="1784856"/>
            <a:ext cx="34454" cy="34454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6867221" y="1882281"/>
            <a:ext cx="43437" cy="43437"/>
          </a:xfrm>
          <a:prstGeom prst="ellipse">
            <a:avLst/>
          </a:prstGeom>
          <a:solidFill>
            <a:srgbClr val="24314B"/>
          </a:solidFill>
          <a:ln/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1035715" y="4509123"/>
            <a:ext cx="38343" cy="38343"/>
          </a:xfrm>
          <a:prstGeom prst="ellipse">
            <a:avLst/>
          </a:prstGeom>
          <a:solidFill>
            <a:srgbClr val="24314B"/>
          </a:solidFill>
          <a:ln/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7803455" y="2426382"/>
            <a:ext cx="38224" cy="38224"/>
          </a:xfrm>
          <a:prstGeom prst="ellipse">
            <a:avLst/>
          </a:prstGeom>
          <a:solidFill>
            <a:srgbClr val="24314B"/>
          </a:solidFill>
          <a:ln/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5438203" y="2111058"/>
            <a:ext cx="62128" cy="62128"/>
          </a:xfrm>
          <a:prstGeom prst="ellipse">
            <a:avLst/>
          </a:prstGeom>
          <a:solidFill>
            <a:srgbClr val="24314B"/>
          </a:solidFill>
          <a:ln/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5857637" y="896150"/>
            <a:ext cx="37667" cy="37667"/>
          </a:xfrm>
          <a:prstGeom prst="ellipse">
            <a:avLst/>
          </a:prstGeom>
          <a:solidFill>
            <a:srgbClr val="24314B"/>
          </a:solidFill>
          <a:ln/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4154477" y="686658"/>
            <a:ext cx="29611" cy="29611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3833925" y="3387584"/>
            <a:ext cx="57008" cy="57008"/>
          </a:xfrm>
          <a:prstGeom prst="ellipse">
            <a:avLst/>
          </a:prstGeom>
          <a:solidFill>
            <a:srgbClr val="24314B"/>
          </a:solidFill>
          <a:ln/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8401179" y="1759926"/>
            <a:ext cx="47469" cy="47469"/>
          </a:xfrm>
          <a:prstGeom prst="ellipse">
            <a:avLst/>
          </a:prstGeom>
          <a:solidFill>
            <a:srgbClr val="24314B"/>
          </a:solidFill>
          <a:ln/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4536479" y="2280685"/>
            <a:ext cx="65765" cy="65765"/>
          </a:xfrm>
          <a:prstGeom prst="ellipse">
            <a:avLst/>
          </a:prstGeom>
          <a:solidFill>
            <a:srgbClr val="24314B"/>
          </a:solidFill>
          <a:ln/>
        </p:spPr>
        <p:txBody>
          <a:bodyPr/>
          <a:p/>
        </p:txBody>
      </p:sp>
      <p:pic>
        <p:nvPicPr>
          <p:cNvPr id="2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86200" y="411480"/>
            <a:ext cx="1371600" cy="1371600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1828800" y="187452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MAYA CHEN</a:t>
            </a: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Senior Internal Auditor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457200" y="2286000"/>
            <a:ext cx="8229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“I check the money.”</a:t>
            </a:r>
            <a:endParaRPr lang="en-US" sz="4600" dirty="0"/>
          </a:p>
        </p:txBody>
      </p:sp>
      <p:sp>
        <p:nvSpPr>
          <p:cNvPr id="27" name="Text 24"/>
          <p:cNvSpPr/>
          <p:nvPr/>
        </p:nvSpPr>
        <p:spPr>
          <a:xfrm>
            <a:off x="914400" y="33375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E6E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payment. Every vendor. Every number your company swears is clean.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 Guardian   ·   a 3-minute story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8640" y="384048"/>
            <a:ext cx="1005840" cy="10058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691640" y="53035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MAYA CHEN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1691640" y="80467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Senior Internal Auditor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48640" y="1600200"/>
            <a:ext cx="5029200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million transactions land on my desk.
</a:t>
            </a:r>
            <a:endParaRPr lang="en-US" sz="2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2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can open maybe five in a hundred.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566928" y="3657600"/>
            <a:ext cx="5029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i="1" dirty="0">
                <a:solidFill>
                  <a:srgbClr val="E6E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rest, I sample. I guess. And I hope.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i="1" dirty="0">
                <a:solidFill>
                  <a:srgbClr val="E6E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Hope is not a control. But it's what I've got.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806440" y="1371600"/>
            <a:ext cx="2834640" cy="3017520"/>
          </a:xfrm>
          <a:prstGeom prst="roundRect">
            <a:avLst>
              <a:gd name="adj" fmla="val 2903"/>
            </a:avLst>
          </a:prstGeom>
          <a:solidFill>
            <a:srgbClr val="141C2E"/>
          </a:solidFill>
          <a:ln w="12700">
            <a:solidFill>
              <a:srgbClr val="24314B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5943600" y="1783080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6400" dirty="0"/>
          </a:p>
        </p:txBody>
      </p:sp>
      <p:sp>
        <p:nvSpPr>
          <p:cNvPr id="9" name="Text 6"/>
          <p:cNvSpPr/>
          <p:nvPr/>
        </p:nvSpPr>
        <p:spPr>
          <a:xfrm>
            <a:off x="5943600" y="278892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6E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the ledger,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E6E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actually opened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943600" y="37033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other 95% rides on hope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26180" y="457200"/>
            <a:ext cx="1691640" cy="16916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2331720"/>
            <a:ext cx="80467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“It's the ninety-five I didn't open</a:t>
            </a:r>
            <a:endParaRPr lang="en-US" sz="30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 keep me up at night.”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1097280" y="3657600"/>
            <a:ext cx="6949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4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Fraud doesn't show up in the audit. It shows up in the headline — the restatement — with my signature on the page.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54780" y="457200"/>
            <a:ext cx="1234440" cy="12344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78308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4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THEN SOMETHING CHANGED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48640" y="2148840"/>
            <a:ext cx="8046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3400" b="1" dirty="0">
                <a:solidFill>
                  <a:srgbClr val="151A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didn't flag and walk away.</a:t>
            </a:r>
            <a:endParaRPr lang="en-US" sz="3400" dirty="0"/>
          </a:p>
          <a:p>
            <a:pPr marL="0" indent="0" algn="ctr">
              <a:lnSpc>
                <a:spcPct val="108000"/>
              </a:lnSpc>
              <a:buNone/>
            </a:pPr>
            <a:r>
              <a:rPr lang="en-US" sz="3400" b="1" dirty="0">
                <a:solidFill>
                  <a:srgbClr val="151A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investigated.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914400" y="34747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rolled my eyes at first — another tool promising magic.  Then I watched </a:t>
            </a:r>
            <a:r>
              <a:rPr lang="en-US" sz="1500" b="1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 Guardian</a:t>
            </a:r>
            <a:r>
              <a:rPr lang="en-US" sz="15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work.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4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DOES FOR ME</a:t>
            </a:r>
            <a:endParaRPr lang="en-US" sz="11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58100" y="320040"/>
            <a:ext cx="960120" cy="9601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452360" y="129844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MAYA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502920" y="749808"/>
            <a:ext cx="6675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51A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“It argues both sides — so I don't have to guess.”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502920" y="1554480"/>
            <a:ext cx="3657600" cy="1965960"/>
          </a:xfrm>
          <a:prstGeom prst="roundRect">
            <a:avLst>
              <a:gd name="adj" fmla="val 4186"/>
            </a:avLst>
          </a:prstGeom>
          <a:solidFill>
            <a:srgbClr val="FEF2F2"/>
          </a:solidFill>
          <a:ln w="12700">
            <a:solidFill>
              <a:srgbClr val="D8DFEC"/>
            </a:solidFill>
            <a:prstDash val="solid"/>
          </a:ln>
          <a:effectLst>
            <a:outerShdw blurRad="114300" dist="38100" dir="5400000" algn="bl" rotWithShape="0">
              <a:srgbClr val="0B122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7" name="Shape 4"/>
          <p:cNvSpPr/>
          <p:nvPr/>
        </p:nvSpPr>
        <p:spPr>
          <a:xfrm>
            <a:off x="731520" y="1755648"/>
            <a:ext cx="457200" cy="457200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p/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50392" y="1874520"/>
            <a:ext cx="219456" cy="21945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98448" y="181051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“This looks like fraud”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777240" y="233172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51A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Round number, just under the limit.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51A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Brand-new vendor, no history.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4983480" y="1554480"/>
            <a:ext cx="3657600" cy="1965960"/>
          </a:xfrm>
          <a:prstGeom prst="roundRect">
            <a:avLst>
              <a:gd name="adj" fmla="val 4186"/>
            </a:avLst>
          </a:prstGeom>
          <a:solidFill>
            <a:srgbClr val="F0FDF9"/>
          </a:solidFill>
          <a:ln w="12700">
            <a:solidFill>
              <a:srgbClr val="D8DFEC"/>
            </a:solidFill>
            <a:prstDash val="solid"/>
          </a:ln>
          <a:effectLst>
            <a:outerShdw blurRad="114300" dist="38100" dir="5400000" algn="bl" rotWithShape="0">
              <a:srgbClr val="0B122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2" name="Shape 8"/>
          <p:cNvSpPr/>
          <p:nvPr/>
        </p:nvSpPr>
        <p:spPr>
          <a:xfrm>
            <a:off x="5212080" y="1755648"/>
            <a:ext cx="457200" cy="45720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p/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330952" y="1874520"/>
            <a:ext cx="219456" cy="21945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779008" y="181051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“This looks legitimate”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5257800" y="233172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51A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Vendor verified, valid tax ID.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51A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Matches an approved PO.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502920" y="3703320"/>
            <a:ext cx="813816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D8DFEC"/>
            </a:solidFill>
            <a:prstDash val="solid"/>
          </a:ln>
          <a:effectLst>
            <a:outerShdw blurRad="114300" dist="38100" dir="5400000" algn="bl" rotWithShape="0">
              <a:srgbClr val="0B122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7" name="Text 12"/>
          <p:cNvSpPr/>
          <p:nvPr/>
        </p:nvSpPr>
        <p:spPr>
          <a:xfrm>
            <a:off x="731520" y="3703320"/>
            <a:ext cx="5486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51A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Then it tells me how sure it is.   </a:t>
            </a:r>
            <a:r>
              <a:rPr lang="en-US" sz="135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the first time, I see the whole story — not just a red flag.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6355080" y="39776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2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confidence 0.82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6355080" y="4297680"/>
            <a:ext cx="2103120" cy="128016"/>
          </a:xfrm>
          <a:prstGeom prst="roundRect">
            <a:avLst>
              <a:gd name="adj" fmla="val 50000"/>
            </a:avLst>
          </a:prstGeom>
          <a:solidFill>
            <a:srgbClr val="EAF1FB"/>
          </a:solidFill>
          <a:ln/>
        </p:spPr>
        <p:txBody>
          <a:bodyPr/>
          <a:p/>
        </p:txBody>
      </p:sp>
      <p:sp>
        <p:nvSpPr>
          <p:cNvPr id="20" name="Shape 15"/>
          <p:cNvSpPr/>
          <p:nvPr/>
        </p:nvSpPr>
        <p:spPr>
          <a:xfrm>
            <a:off x="6355080" y="4297680"/>
            <a:ext cx="1724558" cy="128016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/>
        </p:spPr>
        <p:txBody>
          <a:bodyPr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4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CHANGED FOR ME</a:t>
            </a:r>
            <a:endParaRPr lang="en-US" sz="11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35240" y="320040"/>
            <a:ext cx="1005840" cy="10058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452360" y="134416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MAYA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502920" y="749808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 and hope</a:t>
            </a:r>
            <a:r>
              <a:rPr lang="en-US" sz="25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→   </a:t>
            </a:r>
            <a:r>
              <a:rPr lang="en-US" sz="25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and minutes</a:t>
            </a:r>
            <a:endParaRPr lang="en-US" sz="2500" dirty="0"/>
          </a:p>
        </p:txBody>
      </p:sp>
      <p:sp>
        <p:nvSpPr>
          <p:cNvPr id="6" name="Shape 3"/>
          <p:cNvSpPr/>
          <p:nvPr/>
        </p:nvSpPr>
        <p:spPr>
          <a:xfrm>
            <a:off x="502920" y="1600200"/>
            <a:ext cx="2606040" cy="274320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D8DFEC"/>
            </a:solidFill>
            <a:prstDash val="solid"/>
          </a:ln>
          <a:effectLst>
            <a:outerShdw blurRad="114300" dist="38100" dir="5400000" algn="bl" rotWithShape="0">
              <a:srgbClr val="0B122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7" name="Shape 4"/>
          <p:cNvSpPr/>
          <p:nvPr/>
        </p:nvSpPr>
        <p:spPr>
          <a:xfrm>
            <a:off x="758952" y="1874520"/>
            <a:ext cx="603504" cy="603504"/>
          </a:xfrm>
          <a:prstGeom prst="ellipse">
            <a:avLst/>
          </a:prstGeom>
          <a:solidFill>
            <a:srgbClr val="F0FDF9"/>
          </a:solidFill>
          <a:ln/>
        </p:spPr>
        <p:txBody>
          <a:bodyPr/>
          <a:p/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15863" y="2031431"/>
            <a:ext cx="289682" cy="28968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58952" y="269748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51A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case, covered</a:t>
            </a:r>
            <a:endParaRPr lang="en-US" sz="1650" dirty="0"/>
          </a:p>
        </p:txBody>
      </p:sp>
      <p:sp>
        <p:nvSpPr>
          <p:cNvPr id="10" name="Text 6"/>
          <p:cNvSpPr/>
          <p:nvPr/>
        </p:nvSpPr>
        <p:spPr>
          <a:xfrm>
            <a:off x="758952" y="3246120"/>
            <a:ext cx="2148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clear ones clear themselves. Nothing rides on hope anymore.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3337560" y="1600200"/>
            <a:ext cx="2606040" cy="274320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D8DFEC"/>
            </a:solidFill>
            <a:prstDash val="solid"/>
          </a:ln>
          <a:effectLst>
            <a:outerShdw blurRad="114300" dist="38100" dir="5400000" algn="bl" rotWithShape="0">
              <a:srgbClr val="0B122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2" name="Shape 8"/>
          <p:cNvSpPr/>
          <p:nvPr/>
        </p:nvSpPr>
        <p:spPr>
          <a:xfrm>
            <a:off x="3593592" y="1874520"/>
            <a:ext cx="603504" cy="603504"/>
          </a:xfrm>
          <a:prstGeom prst="ellipse">
            <a:avLst/>
          </a:prstGeom>
          <a:solidFill>
            <a:srgbClr val="EAF1FB"/>
          </a:solidFill>
          <a:ln/>
        </p:spPr>
        <p:txBody>
          <a:bodyPr/>
          <a:p/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750503" y="2031431"/>
            <a:ext cx="289682" cy="28968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593592" y="269748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51A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Minutes, not weekends</a:t>
            </a:r>
            <a:endParaRPr lang="en-US" sz="1650" dirty="0"/>
          </a:p>
        </p:txBody>
      </p:sp>
      <p:sp>
        <p:nvSpPr>
          <p:cNvPr id="15" name="Text 10"/>
          <p:cNvSpPr/>
          <p:nvPr/>
        </p:nvSpPr>
        <p:spPr>
          <a:xfrm>
            <a:off x="3593592" y="3246120"/>
            <a:ext cx="2148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tricky ones reach me already argued. I review, I don't excavate.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6172200" y="1600200"/>
            <a:ext cx="2606040" cy="274320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D8DFEC"/>
            </a:solidFill>
            <a:prstDash val="solid"/>
          </a:ln>
          <a:effectLst>
            <a:outerShdw blurRad="114300" dist="38100" dir="5400000" algn="bl" rotWithShape="0">
              <a:srgbClr val="0B122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7" name="Shape 12"/>
          <p:cNvSpPr/>
          <p:nvPr/>
        </p:nvSpPr>
        <p:spPr>
          <a:xfrm>
            <a:off x="6428232" y="1874520"/>
            <a:ext cx="603504" cy="603504"/>
          </a:xfrm>
          <a:prstGeom prst="ellipse">
            <a:avLst/>
          </a:prstGeom>
          <a:solidFill>
            <a:srgbClr val="EAF1FB"/>
          </a:solidFill>
          <a:ln/>
        </p:spPr>
        <p:txBody>
          <a:bodyPr/>
          <a:p/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585143" y="2031431"/>
            <a:ext cx="289682" cy="28968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428232" y="269748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51A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Signed &amp; traceable</a:t>
            </a:r>
            <a:endParaRPr lang="en-US" sz="1650" dirty="0"/>
          </a:p>
        </p:txBody>
      </p:sp>
      <p:sp>
        <p:nvSpPr>
          <p:cNvPr id="20" name="Text 14"/>
          <p:cNvSpPr/>
          <p:nvPr/>
        </p:nvSpPr>
        <p:spPr>
          <a:xfrm>
            <a:off x="6428232" y="3246120"/>
            <a:ext cx="2148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decision cited and recorded. Defensible by default.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18241" y="4012510"/>
            <a:ext cx="71277" cy="71277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6842086" y="2843463"/>
            <a:ext cx="60398" cy="60398"/>
          </a:xfrm>
          <a:prstGeom prst="ellipse">
            <a:avLst/>
          </a:prstGeom>
          <a:solidFill>
            <a:srgbClr val="24314B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5379098" y="520833"/>
            <a:ext cx="59573" cy="59573"/>
          </a:xfrm>
          <a:prstGeom prst="ellipse">
            <a:avLst/>
          </a:prstGeom>
          <a:solidFill>
            <a:srgbClr val="24314B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6934476" y="3521620"/>
            <a:ext cx="42132" cy="42132"/>
          </a:xfrm>
          <a:prstGeom prst="ellipse">
            <a:avLst/>
          </a:prstGeom>
          <a:solidFill>
            <a:srgbClr val="24314B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6600941" y="4606823"/>
            <a:ext cx="72846" cy="72846"/>
          </a:xfrm>
          <a:prstGeom prst="ellipse">
            <a:avLst/>
          </a:prstGeom>
          <a:solidFill>
            <a:srgbClr val="24314B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7883693" y="1109443"/>
            <a:ext cx="33603" cy="33603"/>
          </a:xfrm>
          <a:prstGeom prst="ellipse">
            <a:avLst/>
          </a:prstGeom>
          <a:solidFill>
            <a:srgbClr val="24314B"/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5875451" y="4078480"/>
            <a:ext cx="34895" cy="34895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4081416" y="1702933"/>
            <a:ext cx="50051" cy="50051"/>
          </a:xfrm>
          <a:prstGeom prst="ellipse">
            <a:avLst/>
          </a:prstGeom>
          <a:solidFill>
            <a:srgbClr val="24314B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6006788" y="459803"/>
            <a:ext cx="52401" cy="52401"/>
          </a:xfrm>
          <a:prstGeom prst="ellipse">
            <a:avLst/>
          </a:prstGeom>
          <a:solidFill>
            <a:srgbClr val="24314B"/>
          </a:solidFill>
          <a:ln/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6744286" y="2254089"/>
            <a:ext cx="60995" cy="60995"/>
          </a:xfrm>
          <a:prstGeom prst="ellipse">
            <a:avLst/>
          </a:prstGeom>
          <a:solidFill>
            <a:srgbClr val="24314B"/>
          </a:solidFill>
          <a:ln/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1386631" y="4418793"/>
            <a:ext cx="49164" cy="49164"/>
          </a:xfrm>
          <a:prstGeom prst="ellipse">
            <a:avLst/>
          </a:prstGeom>
          <a:solidFill>
            <a:srgbClr val="24314B"/>
          </a:solidFill>
          <a:ln/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1851503" y="4286912"/>
            <a:ext cx="35956" cy="35956"/>
          </a:xfrm>
          <a:prstGeom prst="ellipse">
            <a:avLst/>
          </a:prstGeom>
          <a:solidFill>
            <a:srgbClr val="24314B"/>
          </a:solidFill>
          <a:ln/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3231622" y="3763449"/>
            <a:ext cx="40423" cy="40423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619707" y="4753402"/>
            <a:ext cx="35894" cy="35894"/>
          </a:xfrm>
          <a:prstGeom prst="ellipse">
            <a:avLst/>
          </a:prstGeom>
          <a:solidFill>
            <a:srgbClr val="24314B"/>
          </a:solidFill>
          <a:ln/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5933438" y="4589772"/>
            <a:ext cx="41419" cy="41419"/>
          </a:xfrm>
          <a:prstGeom prst="ellipse">
            <a:avLst/>
          </a:prstGeom>
          <a:solidFill>
            <a:srgbClr val="24314B"/>
          </a:solidFill>
          <a:ln/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5853057" y="605559"/>
            <a:ext cx="30328" cy="30328"/>
          </a:xfrm>
          <a:prstGeom prst="ellipse">
            <a:avLst/>
          </a:prstGeom>
          <a:solidFill>
            <a:srgbClr val="24314B"/>
          </a:solidFill>
          <a:ln/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3883762" y="3849762"/>
            <a:ext cx="67392" cy="67392"/>
          </a:xfrm>
          <a:prstGeom prst="ellipse">
            <a:avLst/>
          </a:prstGeom>
          <a:solidFill>
            <a:srgbClr val="24314B"/>
          </a:solidFill>
          <a:ln/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3530754" y="2511382"/>
            <a:ext cx="34499" cy="34499"/>
          </a:xfrm>
          <a:prstGeom prst="ellipse">
            <a:avLst/>
          </a:prstGeom>
          <a:solidFill>
            <a:srgbClr val="24314B"/>
          </a:solidFill>
          <a:ln/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8299232" y="3067418"/>
            <a:ext cx="42141" cy="42141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4869437" y="2850872"/>
            <a:ext cx="63647" cy="63647"/>
          </a:xfrm>
          <a:prstGeom prst="ellipse">
            <a:avLst/>
          </a:prstGeom>
          <a:solidFill>
            <a:srgbClr val="24314B"/>
          </a:solidFill>
          <a:ln/>
        </p:spPr>
        <p:txBody>
          <a:bodyPr/>
          <a:p/>
        </p:txBody>
      </p:sp>
      <p:pic>
        <p:nvPicPr>
          <p:cNvPr id="22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77640" y="411480"/>
            <a:ext cx="1188720" cy="1188720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548640" y="178308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“When they ask me to show my work — now I can.”</a:t>
            </a:r>
            <a:endParaRPr lang="en-US" sz="2800" dirty="0"/>
          </a:p>
        </p:txBody>
      </p:sp>
      <p:sp>
        <p:nvSpPr>
          <p:cNvPr id="24" name="Text 21"/>
          <p:cNvSpPr/>
          <p:nvPr/>
        </p:nvSpPr>
        <p:spPr>
          <a:xfrm>
            <a:off x="914400" y="288036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E6E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still check the money. I just don't carry it home anymore.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3063240" y="3520440"/>
            <a:ext cx="3017520" cy="603504"/>
          </a:xfrm>
          <a:prstGeom prst="roundRect">
            <a:avLst>
              <a:gd name="adj" fmla="val 15152"/>
            </a:avLst>
          </a:prstGeom>
          <a:solidFill>
            <a:srgbClr val="2563EB"/>
          </a:solidFill>
          <a:ln/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26" name="Text 23"/>
          <p:cNvSpPr/>
          <p:nvPr/>
        </p:nvSpPr>
        <p:spPr>
          <a:xfrm>
            <a:off x="3063240" y="3520440"/>
            <a:ext cx="3017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it on your ledger</a:t>
            </a:r>
            <a:endParaRPr lang="en-US" sz="1500" dirty="0"/>
          </a:p>
        </p:txBody>
      </p:sp>
      <p:sp>
        <p:nvSpPr>
          <p:cNvPr id="27" name="Text 24"/>
          <p:cNvSpPr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 Guardian   ·   every transaction gets a fair trial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769</Words>
  <Application>Microsoft Office PowerPoint</Application>
  <PresentationFormat>On-screen Show (16:9)</PresentationFormat>
  <Paragraphs>59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GL Guardian — Maya's story</dc:title>
  <dc:subject>PptxGenJS Presentation</dc:subject>
  <dc:creator>GL Guardian</dc:creator>
  <cp:lastModifiedBy>Adhi A</cp:lastModifiedBy>
  <cp:revision>1</cp:revision>
  <dcterms:created xsi:type="dcterms:W3CDTF">2026-07-07T03:56:45Z</dcterms:created>
  <dcterms:modified xsi:type="dcterms:W3CDTF">2026-07-07T04:05:49Z</dcterms:modified>
</cp:coreProperties>
</file>