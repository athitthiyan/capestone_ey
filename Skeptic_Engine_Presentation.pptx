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bubble3D val="0"/>
            <c:spPr>
              <a:solidFill>
                <a:srgbClr val="E2E8F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Examined</c:v>
                </c:pt>
                <c:pt idx="1">
                  <c:v>Unexamined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</c:v>
                </c:pt>
                <c:pt idx="1">
                  <c:v>95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After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E2E8F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Examined</c:v>
                </c:pt>
                <c:pt idx="1">
                  <c:v>Unexamined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100</c:v>
                </c:pt>
                <c:pt idx="1">
                  <c:v>0.001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01 — COLD OPEN (0:00-0:40). Lights low, music barely there; hold 2s.
"Last year, your business processed MILLIONS of transactions. [beat] Your audit team looked at maybe FIVE PERCENT of them. [long beat] This is the story of the other NINETY-FIVE."
Hard cut to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02 — THE PROBLEM (0:40-1:20).
"Manual review is SLOW. Rules-based flags CRY WOLF. And when something real slips through, you don't find out in the audit — you find out in the HEADLINE."
Advance to Slide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03 — THE COST (1:20-2:00). Numbers count up.
"The cost isn't just fraud. It's auditor HOURS. Restatements. Failed controls. A compliance file you CAN'T FULLY DEFEND when someone asks you to show your work." [beat]
Audience: 'Any of this sound familiar?' Then day-break wipe to Slide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04 — THE VISION (2:00-2:40). Music lifts; particles converge into the logo.
"So we asked a simple question: what if EVERY flagged transaction got a FAIR TRIAL? [beat] Not one AI with one opinion — because opinions HALLUCINATE. A real argument. Evidence. A verdict. And a human with the final say. [beat] This is SKEPTIC ENGINE."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05 — MEET THE CREW (2:40-3:30). Each agent lights as named.
"It's not a black box. It's a CREW of six. A Supervisor runs the case. An Evidence agent gathers cited facts. A Challenger and a Defender argue it out. An Adjudicator weighs both sides. And a Verifier checks the work."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06 — THE DEBATE (3:30-4:30). THE moment — slow down.
"The Challenger builds the case that this is FRAUD. The Defender builds the case that it's LEGITIMATE. They go up to two rounds. [beat] And neither one gets the last word. [long beat] The Adjudicator does."
Audience: 'Have you ever seen AI argue with itself before?'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07 — EVIDENCE (4:30-5:15). Citation threads draw claim-&gt;source.
"Is any of this actually TRUE? Nothing here is a vibe. The Evidence agent retrieves from your policy knowledge base and live sources — FX rates, vendor registries — and the Verifier REJECTS any claim that isn't grounded. Like that one — struck from the record."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08 — CONFIDENCE GATE (5:15-6:00). Case token routes down a lane.
"The system knows what it DOESN'T know. Above ninety percent and low risk, it AUTO-CLEARS — with a full trail. In the grey zone, it routes to a HUMAN. Below seventy, it ESCALATES. You spend your judgment WHERE JUDGMENT MATTERS."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09 — AUDIT TRAIL (6:00-6:40). Back to dark; chain builds, tamper cracks it.
"Every decision, every source, every model call — written to an IMMUTABLE, hash-chained log. Change one record and the whole chain BREAKS. So when a regulator says 'show your work' — you EXPORT it."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10 — LIVE PRODUCT (6:40-7:40). START THE RECORDING (or click through live).
"This is the ACTUAL product. Upload a ledger. Watch cases populate. Open one — pipeline, evidence, debate transcript, verification checklist, your review actions. Approve — and the report GENERATES ITSELF."
Tip: have a recorded fallback if the network is shaky.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11 — BEHIND THE SCENES (7:40-8:20). Pipeline conveyor animates.
"Behind that ONE approval, a whole pipeline just ran — intake, evidence, the debate, verification, the confidence gate, report generation. Orchestrated by LANGGRAPH, on async workers, with Postgres and pgvector underneath — and Prometheus watching cost and latency the WHOLE way."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12 — BUSINESS IMPACT (8:20-9:00). Donuts fill; stat cards count up.
"So what changes? You go from a FIVE PERCENT sample to ONE HUNDRED PERCENT investigated. Hours of review collapse into MINUTES on the cases that matter. And EVERY decision is audit-ready by default — consistent, cited, defensible, at machine scale."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13 — ROADMAP (9:00-9:35). Milestones light toward the horizon.
"And we're just getting started. Next: an audit COPILOT you can talk to. Real-time monitoring instead of periodic runs. More models, more integrations — your ERP, your GRC stack — and a marketplace of investigation PLAYBOOKS."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14 - CLOSE / CTA (9:35-10:00). Back to dark; particles settle; CTA pulses once. Skeptic Engine. Every transaction gets a fair trial - cited, argued, verified, and SIGNED. Let us run it on YOUR data. Where should we START? Hold on the logo.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image" Target="../media/image-13-9.png"/><Relationship Id="rId10" Type="http://schemas.openxmlformats.org/officeDocument/2006/relationships/image" Target="../media/image-13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83406" y="390741"/>
            <a:ext cx="56235" cy="5623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4683152" y="425797"/>
            <a:ext cx="63448" cy="63448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4" name="Shape 2"/>
          <p:cNvSpPr/>
          <p:nvPr/>
        </p:nvSpPr>
        <p:spPr>
          <a:xfrm>
            <a:off x="1281479" y="612667"/>
            <a:ext cx="58458" cy="58458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5" name="Shape 3"/>
          <p:cNvSpPr/>
          <p:nvPr/>
        </p:nvSpPr>
        <p:spPr>
          <a:xfrm>
            <a:off x="5330347" y="1351250"/>
            <a:ext cx="43114" cy="43114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6" name="Shape 4"/>
          <p:cNvSpPr/>
          <p:nvPr/>
        </p:nvSpPr>
        <p:spPr>
          <a:xfrm>
            <a:off x="2592511" y="638738"/>
            <a:ext cx="70460" cy="70460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7" name="Shape 5"/>
          <p:cNvSpPr/>
          <p:nvPr/>
        </p:nvSpPr>
        <p:spPr>
          <a:xfrm>
            <a:off x="2315202" y="3949679"/>
            <a:ext cx="32010" cy="32010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8" name="Shape 6"/>
          <p:cNvSpPr/>
          <p:nvPr/>
        </p:nvSpPr>
        <p:spPr>
          <a:xfrm>
            <a:off x="5710408" y="4198912"/>
            <a:ext cx="61741" cy="61741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1264394" y="2343632"/>
            <a:ext cx="67584" cy="67584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10" name="Shape 8"/>
          <p:cNvSpPr/>
          <p:nvPr/>
        </p:nvSpPr>
        <p:spPr>
          <a:xfrm>
            <a:off x="7235284" y="2057942"/>
            <a:ext cx="70670" cy="70670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11" name="Shape 9"/>
          <p:cNvSpPr/>
          <p:nvPr/>
        </p:nvSpPr>
        <p:spPr>
          <a:xfrm>
            <a:off x="2390682" y="2658659"/>
            <a:ext cx="43622" cy="43622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12" name="Shape 10"/>
          <p:cNvSpPr/>
          <p:nvPr/>
        </p:nvSpPr>
        <p:spPr>
          <a:xfrm>
            <a:off x="7871395" y="4192276"/>
            <a:ext cx="35727" cy="35727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13" name="Shape 11"/>
          <p:cNvSpPr/>
          <p:nvPr/>
        </p:nvSpPr>
        <p:spPr>
          <a:xfrm>
            <a:off x="6095987" y="1354754"/>
            <a:ext cx="32574" cy="32574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14" name="Shape 12"/>
          <p:cNvSpPr/>
          <p:nvPr/>
        </p:nvSpPr>
        <p:spPr>
          <a:xfrm>
            <a:off x="4411249" y="1736740"/>
            <a:ext cx="70731" cy="70731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Shape 13"/>
          <p:cNvSpPr/>
          <p:nvPr/>
        </p:nvSpPr>
        <p:spPr>
          <a:xfrm>
            <a:off x="7683434" y="1186600"/>
            <a:ext cx="51351" cy="51351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16" name="Shape 14"/>
          <p:cNvSpPr/>
          <p:nvPr/>
        </p:nvSpPr>
        <p:spPr>
          <a:xfrm>
            <a:off x="6646560" y="382989"/>
            <a:ext cx="37534" cy="37534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17" name="Shape 15"/>
          <p:cNvSpPr/>
          <p:nvPr/>
        </p:nvSpPr>
        <p:spPr>
          <a:xfrm>
            <a:off x="8565726" y="421634"/>
            <a:ext cx="36194" cy="36194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18" name="Shape 16"/>
          <p:cNvSpPr/>
          <p:nvPr/>
        </p:nvSpPr>
        <p:spPr>
          <a:xfrm>
            <a:off x="2198632" y="3708265"/>
            <a:ext cx="30490" cy="30490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19" name="Shape 17"/>
          <p:cNvSpPr/>
          <p:nvPr/>
        </p:nvSpPr>
        <p:spPr>
          <a:xfrm>
            <a:off x="2265075" y="3238615"/>
            <a:ext cx="70389" cy="70389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20" name="Shape 18"/>
          <p:cNvSpPr/>
          <p:nvPr/>
        </p:nvSpPr>
        <p:spPr>
          <a:xfrm>
            <a:off x="5707567" y="1704531"/>
            <a:ext cx="57338" cy="5733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Shape 19"/>
          <p:cNvSpPr/>
          <p:nvPr/>
        </p:nvSpPr>
        <p:spPr>
          <a:xfrm>
            <a:off x="3010529" y="3454932"/>
            <a:ext cx="70608" cy="70608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22" name="Shape 20"/>
          <p:cNvSpPr/>
          <p:nvPr/>
        </p:nvSpPr>
        <p:spPr>
          <a:xfrm>
            <a:off x="1757329" y="1312845"/>
            <a:ext cx="68719" cy="68719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23" name="Shape 21"/>
          <p:cNvSpPr/>
          <p:nvPr/>
        </p:nvSpPr>
        <p:spPr>
          <a:xfrm>
            <a:off x="7136160" y="819913"/>
            <a:ext cx="59183" cy="59183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24" name="Shape 22"/>
          <p:cNvSpPr/>
          <p:nvPr/>
        </p:nvSpPr>
        <p:spPr>
          <a:xfrm>
            <a:off x="3150774" y="1292205"/>
            <a:ext cx="49522" cy="49522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25" name="Shape 23"/>
          <p:cNvSpPr/>
          <p:nvPr/>
        </p:nvSpPr>
        <p:spPr>
          <a:xfrm>
            <a:off x="1463382" y="3626978"/>
            <a:ext cx="29304" cy="29304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26" name="Shape 24"/>
          <p:cNvSpPr/>
          <p:nvPr/>
        </p:nvSpPr>
        <p:spPr>
          <a:xfrm>
            <a:off x="2088269" y="4250223"/>
            <a:ext cx="51283" cy="51283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Shape 25"/>
          <p:cNvSpPr/>
          <p:nvPr/>
        </p:nvSpPr>
        <p:spPr>
          <a:xfrm>
            <a:off x="4357947" y="2974633"/>
            <a:ext cx="71833" cy="71833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13716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AUDIT INTELLIGENCE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17830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SKEPTIC ENGINE</a:t>
            </a:r>
            <a:endParaRPr lang="en-US" sz="6000" dirty="0"/>
          </a:p>
        </p:txBody>
      </p:sp>
      <p:sp>
        <p:nvSpPr>
          <p:cNvPr id="30" name="Text 28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transaction gets a fair trial.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AI audit investigation</a:t>
            </a:r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ctr"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Challenger vs. Defender</a:t>
            </a:r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ctr"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/ Product Demo  ·  ~10 min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95% you never look at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658368" cy="65836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8416" y="1862816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&amp; slow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58952" y="292608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 reviewed by hand, one at a time. Coverage is capped by hours in the day.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37560" y="137160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58368" cy="65836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83056" y="1862816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593592" y="292608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Rules-based flags cry wolf — hundreds of alarms for every real problem.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172200" y="137160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46520" y="1691640"/>
            <a:ext cx="658368" cy="658368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7696" y="1862816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28232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fraud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428232" y="292608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something real hides in the unexamined 95%, you find out in the headline.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STAKES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blind spot costs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373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~95%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transactions go unexamined under sampling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41732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7373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100s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566160" y="278892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false alarms for every real finding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7373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400800" y="278892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case can trigger a restatement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47365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are illustrative — replace with your own pilot numbers before presenting to a client.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every transaction got a fair trial?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88720" y="297180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one AI with one opinion — because opinions hallucinate.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argument. Cited evidence. A verdict. And a human with the final say.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</a:t>
            </a:r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Skeptic Engine.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the crew — six specialists, one investigation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8DF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545336"/>
            <a:ext cx="530352" cy="53035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1980" y="1683228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5270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0756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Orchestrates the case, routes to specialists.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37560" y="132588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8DF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38728" y="1545336"/>
            <a:ext cx="530352" cy="53035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76620" y="1683228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06240" y="15270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agent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566160" y="20756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Gathers cited facts via RAG + live APIs.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72200" y="132588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8DF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73368" y="1545336"/>
            <a:ext cx="530352" cy="530352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11260" y="1683228"/>
            <a:ext cx="254569" cy="2545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40880" y="15270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Challenger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400800" y="20756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Argues the worst-case: this is fraud.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02920" y="292608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8DF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04088" y="3145536"/>
            <a:ext cx="530352" cy="530352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980" y="3283428"/>
            <a:ext cx="254569" cy="25456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1272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Defender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36758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Argues the legitimate business rationale.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337560" y="292608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8DF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538728" y="3145536"/>
            <a:ext cx="530352" cy="530352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76620" y="3283428"/>
            <a:ext cx="254569" cy="25456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206240" y="31272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Adjudicator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3566160" y="36758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Weighs both sides into a verdict.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172200" y="292608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8DF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4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373368" y="3145536"/>
            <a:ext cx="530352" cy="530352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11260" y="3283428"/>
            <a:ext cx="254569" cy="25456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40880" y="31272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Verifier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6400800" y="36758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QA-gates: is every claim grounded?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SIGNATURE MOMENT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debate: Challenger vs. Defender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657600" cy="2103120"/>
          </a:xfrm>
          <a:prstGeom prst="roundRect">
            <a:avLst>
              <a:gd name="adj" fmla="val 3913"/>
            </a:avLst>
          </a:prstGeom>
          <a:solidFill>
            <a:srgbClr val="FEF2F2"/>
          </a:solidFill>
          <a:ln w="12700">
            <a:solidFill>
              <a:srgbClr val="D8DF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72768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0392" y="169164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27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14884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"Round-number amount, just under the approval limit."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"New vendor, no prior transaction history."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"Posted outside normal business hours."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983480" y="1371600"/>
            <a:ext cx="3657600" cy="2103120"/>
          </a:xfrm>
          <a:prstGeom prst="roundRect">
            <a:avLst>
              <a:gd name="adj" fmla="val 3913"/>
            </a:avLst>
          </a:prstGeom>
          <a:solidFill>
            <a:srgbClr val="F0FDF9"/>
          </a:solidFill>
          <a:ln w="12700">
            <a:solidFill>
              <a:srgbClr val="D8DF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212080" y="157276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0952" y="169164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60720" y="1627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DEFENDER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257800" y="214884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"Vendor verified in the registry; valid tax ID."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"Amount matches an approved PO and contract."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"Timestamp aligns with an overseas branch TZ."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3657600"/>
            <a:ext cx="81381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8DF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3794760"/>
            <a:ext cx="566928" cy="566928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3201" y="394216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82219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ADJUDICATOR VERDICT   </a:t>
            </a:r>
            <a:pPr indent="0" marL="0">
              <a:buNone/>
            </a:pPr>
            <a:r>
              <a:rPr lang="en-US" sz="1300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risk · route to human review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989320" y="378561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5989320" y="402336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/>
        </p:spPr>
      </p:sp>
      <p:sp>
        <p:nvSpPr>
          <p:cNvPr id="20" name="Shape 15"/>
          <p:cNvSpPr/>
          <p:nvPr/>
        </p:nvSpPr>
        <p:spPr>
          <a:xfrm>
            <a:off x="5989320" y="4023360"/>
            <a:ext cx="1949501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21" name="Text 16"/>
          <p:cNvSpPr/>
          <p:nvPr/>
        </p:nvSpPr>
        <p:spPr>
          <a:xfrm>
            <a:off x="5989320" y="4023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GROUNDED, NOT GUESSED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claim, cited — verified against real sources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160520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12700">
            <a:solidFill>
              <a:srgbClr val="D8DF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Vendor exists in master registry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Amount within approved PO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FX rate matches transaction date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i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"Vendor flagged by competitor" — unsupported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937760" y="1371600"/>
            <a:ext cx="3703320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12700">
            <a:solidFill>
              <a:srgbClr val="D8DF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21208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12080" y="2011680"/>
            <a:ext cx="3154680" cy="566928"/>
          </a:xfrm>
          <a:prstGeom prst="roundRect">
            <a:avLst>
              <a:gd name="adj" fmla="val 12903"/>
            </a:avLst>
          </a:prstGeom>
          <a:solidFill>
            <a:srgbClr val="EAF1FB"/>
          </a:solidFill>
          <a:ln/>
        </p:spPr>
      </p:sp>
      <p:sp>
        <p:nvSpPr>
          <p:cNvPr id="10" name="Text 8"/>
          <p:cNvSpPr/>
          <p:nvPr/>
        </p:nvSpPr>
        <p:spPr>
          <a:xfrm>
            <a:off x="5349240" y="20665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knowledge base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49240" y="231343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over approval matrices &amp; SOPs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12080" y="2724912"/>
            <a:ext cx="3154680" cy="566928"/>
          </a:xfrm>
          <a:prstGeom prst="roundRect">
            <a:avLst>
              <a:gd name="adj" fmla="val 12903"/>
            </a:avLst>
          </a:prstGeom>
          <a:solidFill>
            <a:srgbClr val="EAF1FB"/>
          </a:solidFill>
          <a:ln/>
        </p:spPr>
      </p:sp>
      <p:sp>
        <p:nvSpPr>
          <p:cNvPr id="13" name="Text 11"/>
          <p:cNvSpPr/>
          <p:nvPr/>
        </p:nvSpPr>
        <p:spPr>
          <a:xfrm>
            <a:off x="5349240" y="27797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registry API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49240" y="302666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Master-data lookups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12080" y="3438144"/>
            <a:ext cx="3154680" cy="566928"/>
          </a:xfrm>
          <a:prstGeom prst="roundRect">
            <a:avLst>
              <a:gd name="adj" fmla="val 12903"/>
            </a:avLst>
          </a:prstGeom>
          <a:solidFill>
            <a:srgbClr val="EAF1FB"/>
          </a:solidFill>
          <a:ln/>
        </p:spPr>
      </p:sp>
      <p:sp>
        <p:nvSpPr>
          <p:cNvPr id="16" name="Text 14"/>
          <p:cNvSpPr/>
          <p:nvPr/>
        </p:nvSpPr>
        <p:spPr>
          <a:xfrm>
            <a:off x="5349240" y="34930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FX rate API (Frankfurter)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49240" y="373989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rates, cache fallback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47365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Verifier strikes any claim it can't trace to a source — no citation, no claim.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confidence gate: humans judge what matters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2148840"/>
            <a:ext cx="1554480" cy="868680"/>
          </a:xfrm>
          <a:prstGeom prst="roundRect">
            <a:avLst>
              <a:gd name="adj" fmla="val 9474"/>
            </a:avLst>
          </a:prstGeom>
          <a:solidFill>
            <a:srgbClr val="0B1220"/>
          </a:solidFill>
          <a:ln w="12700">
            <a:solidFill>
              <a:srgbClr val="2431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2331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6517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017520" y="1371600"/>
            <a:ext cx="5623560" cy="868680"/>
          </a:xfrm>
          <a:prstGeom prst="roundRect">
            <a:avLst>
              <a:gd name="adj" fmla="val 9474"/>
            </a:avLst>
          </a:prstGeom>
          <a:solidFill>
            <a:srgbClr val="F0FDF9"/>
          </a:solidFill>
          <a:ln w="12700">
            <a:solidFill>
              <a:srgbClr val="D8DF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57400" y="2578608"/>
            <a:ext cx="960120" cy="-77724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89504" y="1682496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4904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AUTO-CLEAR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2900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&gt;= 0.90 · low risk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0" y="16276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Cleared automatically with a full trail.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17520" y="2331720"/>
            <a:ext cx="5623560" cy="868680"/>
          </a:xfrm>
          <a:prstGeom prst="roundRect">
            <a:avLst>
              <a:gd name="adj" fmla="val 9474"/>
            </a:avLst>
          </a:prstGeom>
          <a:solidFill>
            <a:srgbClr val="FFFBEB"/>
          </a:solidFill>
          <a:ln w="12700">
            <a:solidFill>
              <a:srgbClr val="D8DF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57400" y="2578608"/>
            <a:ext cx="960120" cy="18288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89504" y="2642616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24505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2900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0.70 - 0.90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0" y="258775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Pre-argued; queued for a reviewer.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17520" y="3291840"/>
            <a:ext cx="5623560" cy="868680"/>
          </a:xfrm>
          <a:prstGeom prst="roundRect">
            <a:avLst>
              <a:gd name="adj" fmla="val 9474"/>
            </a:avLst>
          </a:prstGeom>
          <a:solidFill>
            <a:srgbClr val="FEF2F2"/>
          </a:solidFill>
          <a:ln w="12700">
            <a:solidFill>
              <a:srgbClr val="D8DF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057400" y="2578608"/>
            <a:ext cx="960120" cy="1143000"/>
          </a:xfrm>
          <a:prstGeom prst="line">
            <a:avLst/>
          </a:prstGeom>
          <a:noFill/>
          <a:ln w="31750">
            <a:solidFill>
              <a:srgbClr val="EF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89504" y="3602736"/>
            <a:ext cx="256032" cy="25603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3410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2900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&lt; 0.70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43600" y="35478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Routed up for deeper investigation.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audit trail you can't argue with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5394960" cy="621792"/>
          </a:xfrm>
          <a:prstGeom prst="roundRect">
            <a:avLst>
              <a:gd name="adj" fmla="val 13235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499616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8992" y="161848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5727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#a91f...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743200" y="159105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collected · 3 sources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188720" y="2039112"/>
            <a:ext cx="0" cy="128016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2167128"/>
            <a:ext cx="5394960" cy="621792"/>
          </a:xfrm>
          <a:prstGeom prst="roundRect">
            <a:avLst>
              <a:gd name="adj" fmla="val 13235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60120" y="2249424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8992" y="2368296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232257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#c7e0...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743200" y="23408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Debate · 2 rounds · verdict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1188720" y="2788920"/>
            <a:ext cx="0" cy="128016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2960" y="2916936"/>
            <a:ext cx="5394960" cy="621792"/>
          </a:xfrm>
          <a:prstGeom prst="roundRect">
            <a:avLst>
              <a:gd name="adj" fmla="val 13235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60120" y="2999232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8992" y="3118104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307238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#4b8d...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2743200" y="30906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Verifier passed · confidence 0.82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1188720" y="3538728"/>
            <a:ext cx="0" cy="128016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22960" y="3666744"/>
            <a:ext cx="5394960" cy="621792"/>
          </a:xfrm>
          <a:prstGeom prst="roundRect">
            <a:avLst>
              <a:gd name="adj" fmla="val 13235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60120" y="37490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8992" y="3867912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54480" y="38221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#e2f1...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2743200" y="3840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approved · reviewer signed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6537960" y="1417320"/>
            <a:ext cx="2103120" cy="3063240"/>
          </a:xfrm>
          <a:prstGeom prst="roundRect">
            <a:avLst>
              <a:gd name="adj" fmla="val 3913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766560" y="164592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09206" y="1788566"/>
            <a:ext cx="263347" cy="263347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720840" y="23317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Tamper-evident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6720840" y="2697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record hashes the one before it. Change a single entry and the chain breaks — visibly.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IT LIVE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product, end to end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66928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8DF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71600"/>
            <a:ext cx="5669280" cy="411480"/>
          </a:xfrm>
          <a:prstGeom prst="roundRect">
            <a:avLst>
              <a:gd name="adj" fmla="val 20000"/>
            </a:avLst>
          </a:prstGeom>
          <a:solidFill>
            <a:srgbClr val="EEF2F8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490472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886968" y="1490472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088136" y="1490472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14630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skeptic-engine / dashboard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80160" y="2651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 Embed the product screen recording here  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200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-&gt; Dashboard -&gt; Case Workspace -&gt; Review -&gt; Report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46520" y="1371600"/>
            <a:ext cx="365760" cy="36576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49440" y="135331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a ledger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949440" y="162763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intake + rule pre-filter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46520" y="1993392"/>
            <a:ext cx="365760" cy="36576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49440" y="197510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 populate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949440" y="224942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Risk-scored, agent-investigated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46520" y="2615184"/>
            <a:ext cx="365760" cy="36576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9440" y="259689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workspace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949440" y="287121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· evidence · debate · QA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46520" y="3236976"/>
            <a:ext cx="365760" cy="36576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49440" y="321868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approve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949440" y="349300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human decision on what matters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46520" y="3858768"/>
            <a:ext cx="365760" cy="36576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49440" y="384048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generates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949440" y="411480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/ HTML / PDF + audit log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BEHIND THE SCENES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click, a whole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051560" cy="777240"/>
          </a:xfrm>
          <a:prstGeom prst="roundRect">
            <a:avLst>
              <a:gd name="adj" fmla="val 10588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55448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554480" y="1938528"/>
            <a:ext cx="155448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09928" y="1554480"/>
            <a:ext cx="1051560" cy="777240"/>
          </a:xfrm>
          <a:prstGeom prst="roundRect">
            <a:avLst>
              <a:gd name="adj" fmla="val 10588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709928" y="155448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61488" y="1938528"/>
            <a:ext cx="155448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16936" y="1554480"/>
            <a:ext cx="1051560" cy="777240"/>
          </a:xfrm>
          <a:prstGeom prst="roundRect">
            <a:avLst>
              <a:gd name="adj" fmla="val 10588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16936" y="155448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68496" y="1938528"/>
            <a:ext cx="155448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23944" y="1554480"/>
            <a:ext cx="1051560" cy="777240"/>
          </a:xfrm>
          <a:prstGeom prst="roundRect">
            <a:avLst>
              <a:gd name="adj" fmla="val 10588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23944" y="155448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75504" y="1938528"/>
            <a:ext cx="155448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30952" y="1554480"/>
            <a:ext cx="1051560" cy="777240"/>
          </a:xfrm>
          <a:prstGeom prst="roundRect">
            <a:avLst>
              <a:gd name="adj" fmla="val 10588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30952" y="155448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82512" y="1938528"/>
            <a:ext cx="155448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37960" y="1554480"/>
            <a:ext cx="1051560" cy="777240"/>
          </a:xfrm>
          <a:prstGeom prst="roundRect">
            <a:avLst>
              <a:gd name="adj" fmla="val 10588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37960" y="155448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0" y="1938528"/>
            <a:ext cx="155448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44968" y="1554480"/>
            <a:ext cx="1051560" cy="777240"/>
          </a:xfrm>
          <a:prstGeom prst="roundRect">
            <a:avLst>
              <a:gd name="adj" fmla="val 10588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44968" y="155448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2788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Orchestrated underneath: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3200400"/>
            <a:ext cx="1938528" cy="438912"/>
          </a:xfrm>
          <a:prstGeom prst="roundRect">
            <a:avLst>
              <a:gd name="adj" fmla="val 16667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200400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87752" y="3200400"/>
            <a:ext cx="1938528" cy="438912"/>
          </a:xfrm>
          <a:prstGeom prst="roundRect">
            <a:avLst>
              <a:gd name="adj" fmla="val 16667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87752" y="3200400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72584" y="3200400"/>
            <a:ext cx="1938528" cy="438912"/>
          </a:xfrm>
          <a:prstGeom prst="roundRect">
            <a:avLst>
              <a:gd name="adj" fmla="val 16667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72584" y="3200400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Celery + Redis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757416" y="3200400"/>
            <a:ext cx="1938528" cy="438912"/>
          </a:xfrm>
          <a:prstGeom prst="roundRect">
            <a:avLst>
              <a:gd name="adj" fmla="val 16667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57416" y="3200400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 + pgvector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" y="3749040"/>
            <a:ext cx="1938528" cy="438912"/>
          </a:xfrm>
          <a:prstGeom prst="roundRect">
            <a:avLst>
              <a:gd name="adj" fmla="val 16667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749040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EventStoreDB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587752" y="3749040"/>
            <a:ext cx="1938528" cy="438912"/>
          </a:xfrm>
          <a:prstGeom prst="roundRect">
            <a:avLst>
              <a:gd name="adj" fmla="val 16667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87752" y="3749040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Prometheus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72584" y="3749040"/>
            <a:ext cx="1938528" cy="438912"/>
          </a:xfrm>
          <a:prstGeom prst="roundRect">
            <a:avLst>
              <a:gd name="adj" fmla="val 16667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72584" y="3749040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Multi-LLM gateway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PAYOFF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5% sampled to 100% investigated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1417320"/>
          <a:ext cx="20116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2148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3429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· sampled</a:t>
            </a:r>
            <a:endParaRPr lang="en-US" sz="11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3063240" y="1417320"/>
          <a:ext cx="20116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3063240" y="2148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2926080" y="3429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· investigated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532120" y="1417320"/>
            <a:ext cx="310896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DF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4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715000" y="14904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coverage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715000" y="17556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flagged case, not a sample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532120" y="2176272"/>
            <a:ext cx="310896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DF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4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5715000" y="22494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Minutes, not hours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715000" y="25146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cases that need a human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532120" y="2935224"/>
            <a:ext cx="310896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DF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4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5715000" y="30083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Audit-ready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715000" y="32735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cited &amp; signed by default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532120" y="3694176"/>
            <a:ext cx="310896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DF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4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5715000" y="37673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5715000" y="403250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rigor at machine scale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roadmap: from investigator to copilot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2340864"/>
            <a:ext cx="7315200" cy="0"/>
          </a:xfrm>
          <a:prstGeom prst="line">
            <a:avLst/>
          </a:prstGeom>
          <a:noFill/>
          <a:ln w="25400">
            <a:solidFill>
              <a:srgbClr val="D8DF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148840"/>
            <a:ext cx="384048" cy="384048"/>
          </a:xfrm>
          <a:prstGeom prst="ellipse">
            <a:avLst/>
          </a:prstGeom>
          <a:solidFill>
            <a:srgbClr val="F0F5FF"/>
          </a:solidFill>
          <a:ln w="19050">
            <a:solidFill>
              <a:srgbClr val="2563E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6424" y="2249424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697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copilot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3200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questions in plain language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06624" y="2148840"/>
            <a:ext cx="384048" cy="384048"/>
          </a:xfrm>
          <a:prstGeom prst="ellipse">
            <a:avLst/>
          </a:prstGeom>
          <a:solidFill>
            <a:srgbClr val="F0F5FF"/>
          </a:solidFill>
          <a:ln w="19050">
            <a:solidFill>
              <a:srgbClr val="2563E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07208" y="2249424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57984" y="2697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monitoring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112264" y="3200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Continuous, not periodic runs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407408" y="2148840"/>
            <a:ext cx="384048" cy="384048"/>
          </a:xfrm>
          <a:prstGeom prst="ellipse">
            <a:avLst/>
          </a:prstGeom>
          <a:solidFill>
            <a:srgbClr val="F0F5FF"/>
          </a:solidFill>
          <a:ln w="19050">
            <a:solidFill>
              <a:srgbClr val="2563E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07992" y="224942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858768" y="2697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Multi-model AI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813048" y="3200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model per task, with fallback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108192" y="2148840"/>
            <a:ext cx="384048" cy="384048"/>
          </a:xfrm>
          <a:prstGeom prst="ellipse">
            <a:avLst/>
          </a:prstGeom>
          <a:solidFill>
            <a:srgbClr val="F0F5FF"/>
          </a:solidFill>
          <a:ln w="19050">
            <a:solidFill>
              <a:srgbClr val="2563E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08776" y="2249424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59552" y="2697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integrations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513832" y="3200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&amp; GRC connectors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7808976" y="2148840"/>
            <a:ext cx="384048" cy="384048"/>
          </a:xfrm>
          <a:prstGeom prst="ellipse">
            <a:avLst/>
          </a:prstGeom>
          <a:solidFill>
            <a:srgbClr val="F0F5FF"/>
          </a:solidFill>
          <a:ln w="19050">
            <a:solidFill>
              <a:srgbClr val="2563EB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09560" y="2249424"/>
            <a:ext cx="182880" cy="1828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60336" y="2697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 marketplace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7214616" y="3200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Shareable investigation templates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36" y="4312670"/>
            <a:ext cx="67866" cy="6786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4324565" y="1359912"/>
            <a:ext cx="42383" cy="42383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4" name="Shape 2"/>
          <p:cNvSpPr/>
          <p:nvPr/>
        </p:nvSpPr>
        <p:spPr>
          <a:xfrm>
            <a:off x="808094" y="3098651"/>
            <a:ext cx="27922" cy="27922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5" name="Shape 3"/>
          <p:cNvSpPr/>
          <p:nvPr/>
        </p:nvSpPr>
        <p:spPr>
          <a:xfrm>
            <a:off x="6235493" y="2040198"/>
            <a:ext cx="56681" cy="56681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6" name="Shape 4"/>
          <p:cNvSpPr/>
          <p:nvPr/>
        </p:nvSpPr>
        <p:spPr>
          <a:xfrm>
            <a:off x="8002950" y="2695257"/>
            <a:ext cx="57706" cy="57706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7" name="Shape 5"/>
          <p:cNvSpPr/>
          <p:nvPr/>
        </p:nvSpPr>
        <p:spPr>
          <a:xfrm>
            <a:off x="5352169" y="2351800"/>
            <a:ext cx="42360" cy="423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666269" y="3252332"/>
            <a:ext cx="38853" cy="38853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9" name="Shape 7"/>
          <p:cNvSpPr/>
          <p:nvPr/>
        </p:nvSpPr>
        <p:spPr>
          <a:xfrm>
            <a:off x="3693785" y="4383973"/>
            <a:ext cx="55630" cy="55630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10" name="Shape 8"/>
          <p:cNvSpPr/>
          <p:nvPr/>
        </p:nvSpPr>
        <p:spPr>
          <a:xfrm>
            <a:off x="7053511" y="4014564"/>
            <a:ext cx="63066" cy="63066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11" name="Shape 9"/>
          <p:cNvSpPr/>
          <p:nvPr/>
        </p:nvSpPr>
        <p:spPr>
          <a:xfrm>
            <a:off x="1838395" y="4603528"/>
            <a:ext cx="64670" cy="64670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12" name="Shape 10"/>
          <p:cNvSpPr/>
          <p:nvPr/>
        </p:nvSpPr>
        <p:spPr>
          <a:xfrm>
            <a:off x="6345490" y="2610082"/>
            <a:ext cx="41274" cy="4127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8738486" y="1401946"/>
            <a:ext cx="57241" cy="57241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14" name="Shape 12"/>
          <p:cNvSpPr/>
          <p:nvPr/>
        </p:nvSpPr>
        <p:spPr>
          <a:xfrm>
            <a:off x="2143757" y="2190125"/>
            <a:ext cx="44210" cy="44210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15" name="Shape 13"/>
          <p:cNvSpPr/>
          <p:nvPr/>
        </p:nvSpPr>
        <p:spPr>
          <a:xfrm>
            <a:off x="3878542" y="375155"/>
            <a:ext cx="63673" cy="63673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16" name="Shape 14"/>
          <p:cNvSpPr/>
          <p:nvPr/>
        </p:nvSpPr>
        <p:spPr>
          <a:xfrm>
            <a:off x="2577318" y="1875618"/>
            <a:ext cx="45235" cy="45235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17" name="Shape 15"/>
          <p:cNvSpPr/>
          <p:nvPr/>
        </p:nvSpPr>
        <p:spPr>
          <a:xfrm>
            <a:off x="6986224" y="4458199"/>
            <a:ext cx="59196" cy="591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Shape 16"/>
          <p:cNvSpPr/>
          <p:nvPr/>
        </p:nvSpPr>
        <p:spPr>
          <a:xfrm>
            <a:off x="8563124" y="2698676"/>
            <a:ext cx="64271" cy="64271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19" name="Shape 17"/>
          <p:cNvSpPr/>
          <p:nvPr/>
        </p:nvSpPr>
        <p:spPr>
          <a:xfrm>
            <a:off x="4915391" y="1303343"/>
            <a:ext cx="50998" cy="50998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20" name="Shape 18"/>
          <p:cNvSpPr/>
          <p:nvPr/>
        </p:nvSpPr>
        <p:spPr>
          <a:xfrm>
            <a:off x="8731949" y="2232912"/>
            <a:ext cx="58657" cy="58657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21" name="Shape 19"/>
          <p:cNvSpPr/>
          <p:nvPr/>
        </p:nvSpPr>
        <p:spPr>
          <a:xfrm>
            <a:off x="880151" y="3064609"/>
            <a:ext cx="34205" cy="34205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SKEPTIC ENGINE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transaction gets a fair trial — cited, argued, verified, and signed.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200400" y="306324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00400" y="3063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 live investigation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run it on your data. 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should we start?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athitthiyananofficial@gmail.com   ·   skeptic-engine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Skeptic Engine — Product Demo</dc:title>
  <dc:subject>PptxGenJS Presentation</dc:subject>
  <dc:creator>Skeptic Engine</dc:creator>
  <cp:lastModifiedBy>Skeptic Engine</cp:lastModifiedBy>
  <cp:revision>1</cp:revision>
  <dcterms:created xsi:type="dcterms:W3CDTF">2026-07-06T05:20:07Z</dcterms:created>
  <dcterms:modified xsi:type="dcterms:W3CDTF">2026-07-06T05:20:07Z</dcterms:modified>
</cp:coreProperties>
</file>